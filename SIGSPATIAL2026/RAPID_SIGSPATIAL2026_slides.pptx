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5E54DF-BC82-4503-8B97-78EC7423D456}">
  <a:tblStyle styleId="{3F5E54DF-BC82-4503-8B97-78EC7423D45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67afd412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73" name="Google Shape;73;g3a67afd412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a50534ec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a50534ec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a50534ec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a50534ec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a50534ec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a50534ec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a50534ec3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fa50534ec3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lang="en"/>
              <a:t>Discriminative AI is designed for closed-ended questions with labeled answers. For example: is this building damaged? Is the damage mild, moderate, or severe? These models are useful when we have defined classes and training data.</a:t>
            </a:r>
            <a:endParaRPr/>
          </a:p>
          <a:p>
            <a:pPr indent="0" lvl="0" marL="0" rtl="0" algn="l">
              <a:lnSpc>
                <a:spcPct val="115000"/>
              </a:lnSpc>
              <a:spcBef>
                <a:spcPts val="1200"/>
              </a:spcBef>
              <a:spcAft>
                <a:spcPts val="0"/>
              </a:spcAft>
              <a:buClr>
                <a:schemeClr val="dk1"/>
              </a:buClr>
              <a:buSzPts val="1100"/>
              <a:buFont typeface="Arial"/>
              <a:buNone/>
            </a:pPr>
            <a:r>
              <a:rPr lang="en"/>
              <a:t>Generative AI addresses a different set of questions. It can describe a scene, explain what evidence supports an assessment, reason about missing information, and produce reports for human users. For example, it can answer why a location appears severely damaged and what response actions may be relevant.</a:t>
            </a:r>
            <a:endParaRPr/>
          </a:p>
          <a:p>
            <a:pPr indent="0" lvl="0" marL="0" rtl="0" algn="l">
              <a:lnSpc>
                <a:spcPct val="115000"/>
              </a:lnSpc>
              <a:spcBef>
                <a:spcPts val="1200"/>
              </a:spcBef>
              <a:spcAft>
                <a:spcPts val="0"/>
              </a:spcAft>
              <a:buClr>
                <a:schemeClr val="dk1"/>
              </a:buClr>
              <a:buSzPts val="1100"/>
              <a:buFont typeface="Arial"/>
              <a:buNone/>
            </a:pPr>
            <a:r>
              <a:rPr lang="en"/>
              <a:t>The dissertation does not treat these two families as competitors. Instead, I use them as complementary components in a broader geospatial intelligence workflow.</a:t>
            </a:r>
            <a:endParaRPr/>
          </a:p>
          <a:p>
            <a:pPr indent="0" lvl="0" marL="0" rtl="0" algn="l">
              <a:lnSpc>
                <a:spcPct val="100000"/>
              </a:lnSpc>
              <a:spcBef>
                <a:spcPts val="1200"/>
              </a:spcBef>
              <a:spcAft>
                <a:spcPts val="0"/>
              </a:spcAft>
              <a:buSzPts val="1400"/>
              <a:buNone/>
            </a:pPr>
            <a:r>
              <a:t/>
            </a:r>
            <a:endParaRPr/>
          </a:p>
        </p:txBody>
      </p:sp>
      <p:sp>
        <p:nvSpPr>
          <p:cNvPr id="109" name="Google Shape;109;g3fa50534ec3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a50534ec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a50534ec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a07d5b66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9a07d5b667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b="1" lang="en">
                <a:solidFill>
                  <a:srgbClr val="500000"/>
                </a:solidFill>
                <a:latin typeface="Arial"/>
                <a:ea typeface="Arial"/>
                <a:cs typeface="Arial"/>
                <a:sym typeface="Arial"/>
              </a:rPr>
              <a:t>The objectives are: </a:t>
            </a:r>
            <a:endParaRPr b="1">
              <a:solidFill>
                <a:srgbClr val="500000"/>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b="1">
              <a:solidFill>
                <a:srgbClr val="500000"/>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1" lang="en">
                <a:solidFill>
                  <a:srgbClr val="500000"/>
                </a:solidFill>
                <a:latin typeface="Arial"/>
                <a:ea typeface="Arial"/>
                <a:cs typeface="Arial"/>
                <a:sym typeface="Arial"/>
              </a:rPr>
              <a:t>(1) to assess the performance gains of incorporating pre-disaster street-view images as a no-damage category </a:t>
            </a:r>
            <a:endParaRPr b="1">
              <a:solidFill>
                <a:srgbClr val="500000"/>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1" lang="en">
                <a:solidFill>
                  <a:srgbClr val="500000"/>
                </a:solidFill>
                <a:latin typeface="Arial"/>
                <a:ea typeface="Arial"/>
                <a:cs typeface="Arial"/>
                <a:sym typeface="Arial"/>
              </a:rPr>
              <a:t>(2) to design and evaluate a dual-channel algorithm that reads pair-wise pre- and post-disaster street-view images for hyperlocal damage assessment.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5a40957a5_1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5a40957a5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5a40957a5_1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5a40957a5_1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a50534ec3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a50534ec3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5a40957a5_1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5a40957a5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a50534ec3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a50534ec3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5a40957a5_1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5a40957a5_1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a07d5b66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a07d5b66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a50534ec3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a50534ec3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5a40957a5_1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5a40957a5_1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a50534ec3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a50534ec3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6a2c1ac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6a2c1ac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a50534ec3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fa50534ec3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a50534ec3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a50534ec3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67afd4120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47" name="Google Shape;247;g3a67afd4120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幻灯片">
  <p:cSld name="TITLE_1">
    <p:spTree>
      <p:nvGrpSpPr>
        <p:cNvPr id="50" name="Shape 50"/>
        <p:cNvGrpSpPr/>
        <p:nvPr/>
      </p:nvGrpSpPr>
      <p:grpSpPr>
        <a:xfrm>
          <a:off x="0" y="0"/>
          <a:ext cx="0" cy="0"/>
          <a:chOff x="0" y="0"/>
          <a:chExt cx="0" cy="0"/>
        </a:xfrm>
      </p:grpSpPr>
      <p:sp>
        <p:nvSpPr>
          <p:cNvPr id="51" name="Google Shape;51;p13"/>
          <p:cNvSpPr/>
          <p:nvPr/>
        </p:nvSpPr>
        <p:spPr>
          <a:xfrm>
            <a:off x="0" y="4941094"/>
            <a:ext cx="9143400" cy="202500"/>
          </a:xfrm>
          <a:prstGeom prst="rect">
            <a:avLst/>
          </a:prstGeom>
          <a:solidFill>
            <a:srgbClr val="500000"/>
          </a:solidFill>
          <a:ln cap="flat" cmpd="sng" w="12700">
            <a:solidFill>
              <a:srgbClr val="5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2" name="Google Shape;52;p13"/>
          <p:cNvSpPr txBox="1"/>
          <p:nvPr/>
        </p:nvSpPr>
        <p:spPr>
          <a:xfrm>
            <a:off x="-37147" y="4908709"/>
            <a:ext cx="8835300" cy="20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Times New Roman"/>
                <a:ea typeface="Times New Roman"/>
                <a:cs typeface="Times New Roman"/>
                <a:sym typeface="Times New Roman"/>
              </a:rPr>
              <a:t>Yifan Yang | Ph.d. Student@Texas A&amp;M University | Email: yyang295@tamu.edu | Lab Website: https://www.geoearlab.com</a:t>
            </a:r>
            <a:r>
              <a:rPr b="0" i="0" lang="en" sz="1200" u="none" cap="none" strike="noStrike">
                <a:solidFill>
                  <a:schemeClr val="lt1"/>
                </a:solidFill>
                <a:latin typeface="Times New Roman"/>
                <a:ea typeface="Times New Roman"/>
                <a:cs typeface="Times New Roman"/>
                <a:sym typeface="Times New Roman"/>
              </a:rPr>
              <a:t> </a:t>
            </a:r>
            <a:endParaRPr b="0" i="0" sz="1200" u="none" cap="none" strike="noStrike">
              <a:solidFill>
                <a:schemeClr val="lt1"/>
              </a:solidFill>
              <a:latin typeface="Times New Roman"/>
              <a:ea typeface="Times New Roman"/>
              <a:cs typeface="Times New Roman"/>
              <a:sym typeface="Times New Roman"/>
            </a:endParaRPr>
          </a:p>
        </p:txBody>
      </p:sp>
      <p:pic>
        <p:nvPicPr>
          <p:cNvPr id="53" name="Google Shape;53;p13"/>
          <p:cNvPicPr preferRelativeResize="0"/>
          <p:nvPr/>
        </p:nvPicPr>
        <p:blipFill rotWithShape="1">
          <a:blip r:embed="rId2">
            <a:alphaModFix/>
          </a:blip>
          <a:srcRect b="0" l="0" r="0" t="0"/>
          <a:stretch/>
        </p:blipFill>
        <p:spPr>
          <a:xfrm>
            <a:off x="7321391" y="4176236"/>
            <a:ext cx="1684019" cy="601027"/>
          </a:xfrm>
          <a:prstGeom prst="rect">
            <a:avLst/>
          </a:prstGeom>
          <a:noFill/>
          <a:ln>
            <a:noFill/>
          </a:ln>
        </p:spPr>
      </p:pic>
      <p:pic>
        <p:nvPicPr>
          <p:cNvPr descr="Image" id="54" name="Google Shape;54;p13"/>
          <p:cNvPicPr preferRelativeResize="0"/>
          <p:nvPr/>
        </p:nvPicPr>
        <p:blipFill rotWithShape="1">
          <a:blip r:embed="rId3">
            <a:alphaModFix/>
          </a:blip>
          <a:srcRect b="65889" l="0" r="0" t="2851"/>
          <a:stretch/>
        </p:blipFill>
        <p:spPr>
          <a:xfrm>
            <a:off x="0" y="0"/>
            <a:ext cx="9144953" cy="1477805"/>
          </a:xfrm>
          <a:prstGeom prst="rect">
            <a:avLst/>
          </a:prstGeom>
          <a:noFill/>
          <a:ln>
            <a:noFill/>
          </a:ln>
          <a:effectLst>
            <a:reflection blurRad="0" dir="0" dist="0" endA="0" endPos="40000" fadeDir="5400012" kx="0" rotWithShape="0" algn="bl" stA="50000" stPos="0" sy="-100000" ky="0"/>
          </a:effectLst>
        </p:spPr>
      </p:pic>
      <p:sp>
        <p:nvSpPr>
          <p:cNvPr id="55" name="Google Shape;55;p13"/>
          <p:cNvSpPr/>
          <p:nvPr/>
        </p:nvSpPr>
        <p:spPr>
          <a:xfrm>
            <a:off x="34800" y="4943550"/>
            <a:ext cx="7286700" cy="202500"/>
          </a:xfrm>
          <a:prstGeom prst="rect">
            <a:avLst/>
          </a:prstGeom>
          <a:solidFill>
            <a:srgbClr val="5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p:nvPr/>
        </p:nvSpPr>
        <p:spPr>
          <a:xfrm>
            <a:off x="7322625" y="4088700"/>
            <a:ext cx="1683900" cy="688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p:cSld name="标题幻灯片">
    <p:spTree>
      <p:nvGrpSpPr>
        <p:cNvPr id="57" name="Shape 57"/>
        <p:cNvGrpSpPr/>
        <p:nvPr/>
      </p:nvGrpSpPr>
      <p:grpSpPr>
        <a:xfrm>
          <a:off x="0" y="0"/>
          <a:ext cx="0" cy="0"/>
          <a:chOff x="0" y="0"/>
          <a:chExt cx="0" cy="0"/>
        </a:xfrm>
      </p:grpSpPr>
      <p:sp>
        <p:nvSpPr>
          <p:cNvPr id="58" name="Google Shape;58;p14"/>
          <p:cNvSpPr/>
          <p:nvPr/>
        </p:nvSpPr>
        <p:spPr>
          <a:xfrm>
            <a:off x="0" y="4941094"/>
            <a:ext cx="9143400" cy="202500"/>
          </a:xfrm>
          <a:prstGeom prst="rect">
            <a:avLst/>
          </a:prstGeom>
          <a:solidFill>
            <a:srgbClr val="500000"/>
          </a:solidFill>
          <a:ln cap="flat" cmpd="sng" w="9525">
            <a:solidFill>
              <a:srgbClr val="5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9" name="Google Shape;59;p14"/>
          <p:cNvSpPr txBox="1"/>
          <p:nvPr/>
        </p:nvSpPr>
        <p:spPr>
          <a:xfrm>
            <a:off x="-37147" y="4908709"/>
            <a:ext cx="8835300" cy="20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Times New Roman"/>
                <a:ea typeface="Times New Roman"/>
                <a:cs typeface="Times New Roman"/>
                <a:sym typeface="Times New Roman"/>
              </a:rPr>
              <a:t>Yifan Yang | Ph.d. Student@Texas A&amp;M University | Email: yyang295@tamu.edu | Lab Website: https://www.geoearlab.com</a:t>
            </a:r>
            <a:r>
              <a:rPr b="0" i="0" lang="en" sz="1200" u="none" cap="none" strike="noStrike">
                <a:solidFill>
                  <a:schemeClr val="lt1"/>
                </a:solidFill>
                <a:latin typeface="Times New Roman"/>
                <a:ea typeface="Times New Roman"/>
                <a:cs typeface="Times New Roman"/>
                <a:sym typeface="Times New Roman"/>
              </a:rPr>
              <a:t> </a:t>
            </a:r>
            <a:endParaRPr b="0" i="0" sz="1200" u="none" cap="none" strike="noStrike">
              <a:solidFill>
                <a:schemeClr val="lt1"/>
              </a:solidFill>
              <a:latin typeface="Times New Roman"/>
              <a:ea typeface="Times New Roman"/>
              <a:cs typeface="Times New Roman"/>
              <a:sym typeface="Times New Roman"/>
            </a:endParaRPr>
          </a:p>
        </p:txBody>
      </p:sp>
      <p:pic>
        <p:nvPicPr>
          <p:cNvPr id="60" name="Google Shape;60;p14"/>
          <p:cNvPicPr preferRelativeResize="0"/>
          <p:nvPr/>
        </p:nvPicPr>
        <p:blipFill rotWithShape="1">
          <a:blip r:embed="rId2">
            <a:alphaModFix/>
          </a:blip>
          <a:srcRect b="0" l="0" r="0" t="0"/>
          <a:stretch/>
        </p:blipFill>
        <p:spPr>
          <a:xfrm>
            <a:off x="7321391" y="4176236"/>
            <a:ext cx="1684019" cy="601027"/>
          </a:xfrm>
          <a:prstGeom prst="rect">
            <a:avLst/>
          </a:prstGeom>
          <a:noFill/>
          <a:ln>
            <a:noFill/>
          </a:ln>
        </p:spPr>
      </p:pic>
      <p:pic>
        <p:nvPicPr>
          <p:cNvPr id="61" name="Google Shape;61;p14"/>
          <p:cNvPicPr preferRelativeResize="0"/>
          <p:nvPr/>
        </p:nvPicPr>
        <p:blipFill rotWithShape="1">
          <a:blip r:embed="rId3">
            <a:alphaModFix/>
          </a:blip>
          <a:srcRect b="0" l="0" r="0" t="0"/>
          <a:stretch/>
        </p:blipFill>
        <p:spPr>
          <a:xfrm>
            <a:off x="7059930" y="0"/>
            <a:ext cx="2004060" cy="490538"/>
          </a:xfrm>
          <a:prstGeom prst="rect">
            <a:avLst/>
          </a:prstGeom>
          <a:noFill/>
          <a:ln>
            <a:noFill/>
          </a:ln>
        </p:spPr>
      </p:pic>
      <p:sp>
        <p:nvSpPr>
          <p:cNvPr id="62" name="Google Shape;62;p14"/>
          <p:cNvSpPr/>
          <p:nvPr/>
        </p:nvSpPr>
        <p:spPr>
          <a:xfrm>
            <a:off x="-37150" y="4842125"/>
            <a:ext cx="9286800" cy="30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p:nvPr/>
        </p:nvSpPr>
        <p:spPr>
          <a:xfrm>
            <a:off x="7322625" y="4088700"/>
            <a:ext cx="1683900" cy="688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幻灯片 1">
  <p:cSld name="TITLE_2">
    <p:spTree>
      <p:nvGrpSpPr>
        <p:cNvPr id="64" name="Shape 64"/>
        <p:cNvGrpSpPr/>
        <p:nvPr/>
      </p:nvGrpSpPr>
      <p:grpSpPr>
        <a:xfrm>
          <a:off x="0" y="0"/>
          <a:ext cx="0" cy="0"/>
          <a:chOff x="0" y="0"/>
          <a:chExt cx="0" cy="0"/>
        </a:xfrm>
      </p:grpSpPr>
      <p:sp>
        <p:nvSpPr>
          <p:cNvPr id="65" name="Google Shape;65;p15"/>
          <p:cNvSpPr/>
          <p:nvPr/>
        </p:nvSpPr>
        <p:spPr>
          <a:xfrm>
            <a:off x="0" y="4941094"/>
            <a:ext cx="9143400" cy="202500"/>
          </a:xfrm>
          <a:prstGeom prst="rect">
            <a:avLst/>
          </a:prstGeom>
          <a:solidFill>
            <a:srgbClr val="500000"/>
          </a:solidFill>
          <a:ln cap="flat" cmpd="sng" w="12700">
            <a:solidFill>
              <a:srgbClr val="5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6" name="Google Shape;66;p15"/>
          <p:cNvSpPr txBox="1"/>
          <p:nvPr/>
        </p:nvSpPr>
        <p:spPr>
          <a:xfrm>
            <a:off x="-37147" y="4908709"/>
            <a:ext cx="8835300" cy="20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Times New Roman"/>
                <a:ea typeface="Times New Roman"/>
                <a:cs typeface="Times New Roman"/>
                <a:sym typeface="Times New Roman"/>
              </a:rPr>
              <a:t>Yifan Yang | Ph.d. Student@Texas A&amp;M University | Email: yyang295@tamu.edu | Lab Website: https://www.geoearlab.com</a:t>
            </a:r>
            <a:r>
              <a:rPr b="0" i="0" lang="en" sz="1200" u="none" cap="none" strike="noStrike">
                <a:solidFill>
                  <a:schemeClr val="lt1"/>
                </a:solidFill>
                <a:latin typeface="Times New Roman"/>
                <a:ea typeface="Times New Roman"/>
                <a:cs typeface="Times New Roman"/>
                <a:sym typeface="Times New Roman"/>
              </a:rPr>
              <a:t> </a:t>
            </a:r>
            <a:endParaRPr b="0" i="0" sz="1200" u="none" cap="none" strike="noStrike">
              <a:solidFill>
                <a:schemeClr val="lt1"/>
              </a:solidFill>
              <a:latin typeface="Times New Roman"/>
              <a:ea typeface="Times New Roman"/>
              <a:cs typeface="Times New Roman"/>
              <a:sym typeface="Times New Roman"/>
            </a:endParaRPr>
          </a:p>
        </p:txBody>
      </p:sp>
      <p:pic>
        <p:nvPicPr>
          <p:cNvPr id="67" name="Google Shape;67;p15"/>
          <p:cNvPicPr preferRelativeResize="0"/>
          <p:nvPr/>
        </p:nvPicPr>
        <p:blipFill rotWithShape="1">
          <a:blip r:embed="rId2">
            <a:alphaModFix/>
          </a:blip>
          <a:srcRect b="0" l="0" r="0" t="0"/>
          <a:stretch/>
        </p:blipFill>
        <p:spPr>
          <a:xfrm>
            <a:off x="7321391" y="4176236"/>
            <a:ext cx="1684019" cy="601027"/>
          </a:xfrm>
          <a:prstGeom prst="rect">
            <a:avLst/>
          </a:prstGeom>
          <a:noFill/>
          <a:ln>
            <a:noFill/>
          </a:ln>
        </p:spPr>
      </p:pic>
      <p:pic>
        <p:nvPicPr>
          <p:cNvPr descr="Image" id="68" name="Google Shape;68;p15"/>
          <p:cNvPicPr preferRelativeResize="0"/>
          <p:nvPr/>
        </p:nvPicPr>
        <p:blipFill rotWithShape="1">
          <a:blip r:embed="rId3">
            <a:alphaModFix/>
          </a:blip>
          <a:srcRect b="65889" l="0" r="0" t="2851"/>
          <a:stretch/>
        </p:blipFill>
        <p:spPr>
          <a:xfrm>
            <a:off x="0" y="0"/>
            <a:ext cx="9144953" cy="1477805"/>
          </a:xfrm>
          <a:prstGeom prst="rect">
            <a:avLst/>
          </a:prstGeom>
          <a:noFill/>
          <a:ln>
            <a:noFill/>
          </a:ln>
          <a:effectLst>
            <a:reflection blurRad="0" dir="0" dist="0" endA="0" endPos="40000" fadeDir="5400012" kx="0" rotWithShape="0" algn="bl" stA="50000" stPos="0" sy="-100000" ky="0"/>
          </a:effectLst>
        </p:spPr>
      </p:pic>
      <p:sp>
        <p:nvSpPr>
          <p:cNvPr id="69" name="Google Shape;69;p15"/>
          <p:cNvSpPr/>
          <p:nvPr/>
        </p:nvSpPr>
        <p:spPr>
          <a:xfrm>
            <a:off x="34800" y="4943550"/>
            <a:ext cx="7286700" cy="202500"/>
          </a:xfrm>
          <a:prstGeom prst="rect">
            <a:avLst/>
          </a:prstGeom>
          <a:solidFill>
            <a:srgbClr val="5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5"/>
          <p:cNvSpPr/>
          <p:nvPr/>
        </p:nvSpPr>
        <p:spPr>
          <a:xfrm>
            <a:off x="7322625" y="4088700"/>
            <a:ext cx="1683900" cy="688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35.jpg"/><Relationship Id="rId5"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hyperlink" Target="https://www.google.com/search?q=https://doi.org/10.1145/3841645.3843346" TargetMode="External"/><Relationship Id="rId4" Type="http://schemas.openxmlformats.org/officeDocument/2006/relationships/hyperlink" Target="https://www.google.com/search?q=https://doi.org/10.1145/3841645.3843346" TargetMode="External"/><Relationship Id="rId5" Type="http://schemas.openxmlformats.org/officeDocument/2006/relationships/image" Target="../media/image27.png"/><Relationship Id="rId6"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idx="4294967295" type="sldNum"/>
          </p:nvPr>
        </p:nvSpPr>
        <p:spPr>
          <a:xfrm>
            <a:off x="7046595" y="4989671"/>
            <a:ext cx="2057400" cy="15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b="1" lang="en">
                <a:solidFill>
                  <a:schemeClr val="lt1"/>
                </a:solidFill>
              </a:rPr>
              <a:t>‹#›</a:t>
            </a:fld>
            <a:endParaRPr b="1">
              <a:solidFill>
                <a:schemeClr val="lt1"/>
              </a:solidFill>
            </a:endParaRPr>
          </a:p>
        </p:txBody>
      </p:sp>
      <p:sp>
        <p:nvSpPr>
          <p:cNvPr id="76" name="Google Shape;76;p16"/>
          <p:cNvSpPr txBox="1"/>
          <p:nvPr/>
        </p:nvSpPr>
        <p:spPr>
          <a:xfrm>
            <a:off x="0" y="2045500"/>
            <a:ext cx="9042000" cy="808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400"/>
              <a:buFont typeface="Arial"/>
              <a:buNone/>
            </a:pPr>
            <a:r>
              <a:rPr b="1" lang="en" sz="2400">
                <a:solidFill>
                  <a:srgbClr val="500000"/>
                </a:solidFill>
                <a:latin typeface="Calibri"/>
                <a:ea typeface="Calibri"/>
                <a:cs typeface="Calibri"/>
                <a:sym typeface="Calibri"/>
              </a:rPr>
              <a:t>RAPID</a:t>
            </a:r>
            <a:r>
              <a:rPr b="1" lang="en" sz="2400">
                <a:solidFill>
                  <a:schemeClr val="dk1"/>
                </a:solidFill>
                <a:latin typeface="Calibri"/>
                <a:ea typeface="Calibri"/>
                <a:cs typeface="Calibri"/>
                <a:sym typeface="Calibri"/>
              </a:rPr>
              <a:t>: A </a:t>
            </a:r>
            <a:r>
              <a:rPr b="1" lang="en" sz="2400">
                <a:solidFill>
                  <a:srgbClr val="500000"/>
                </a:solidFill>
                <a:latin typeface="Calibri"/>
                <a:ea typeface="Calibri"/>
                <a:cs typeface="Calibri"/>
                <a:sym typeface="Calibri"/>
              </a:rPr>
              <a:t>R</a:t>
            </a:r>
            <a:r>
              <a:rPr b="1" lang="en" sz="2400">
                <a:solidFill>
                  <a:schemeClr val="dk1"/>
                </a:solidFill>
                <a:latin typeface="Calibri"/>
                <a:ea typeface="Calibri"/>
                <a:cs typeface="Calibri"/>
                <a:sym typeface="Calibri"/>
              </a:rPr>
              <a:t>eproducible Multi-</a:t>
            </a:r>
            <a:r>
              <a:rPr b="1" lang="en" sz="2400">
                <a:solidFill>
                  <a:srgbClr val="851320"/>
                </a:solidFill>
                <a:latin typeface="Calibri"/>
                <a:ea typeface="Calibri"/>
                <a:cs typeface="Calibri"/>
                <a:sym typeface="Calibri"/>
              </a:rPr>
              <a:t>A</a:t>
            </a:r>
            <a:r>
              <a:rPr b="1" lang="en" sz="2400">
                <a:solidFill>
                  <a:schemeClr val="dk1"/>
                </a:solidFill>
                <a:latin typeface="Calibri"/>
                <a:ea typeface="Calibri"/>
                <a:cs typeface="Calibri"/>
                <a:sym typeface="Calibri"/>
              </a:rPr>
              <a:t>gent </a:t>
            </a:r>
            <a:r>
              <a:rPr b="1" lang="en" sz="2400">
                <a:solidFill>
                  <a:srgbClr val="500000"/>
                </a:solidFill>
                <a:latin typeface="Calibri"/>
                <a:ea typeface="Calibri"/>
                <a:cs typeface="Calibri"/>
                <a:sym typeface="Calibri"/>
              </a:rPr>
              <a:t>P</a:t>
            </a:r>
            <a:r>
              <a:rPr b="1" lang="en" sz="2400">
                <a:solidFill>
                  <a:schemeClr val="dk1"/>
                </a:solidFill>
                <a:latin typeface="Calibri"/>
                <a:ea typeface="Calibri"/>
                <a:cs typeface="Calibri"/>
                <a:sym typeface="Calibri"/>
              </a:rPr>
              <a:t>ipeline for </a:t>
            </a:r>
            <a:r>
              <a:rPr b="1" lang="en" sz="2400">
                <a:solidFill>
                  <a:srgbClr val="500000"/>
                </a:solidFill>
                <a:latin typeface="Calibri"/>
                <a:ea typeface="Calibri"/>
                <a:cs typeface="Calibri"/>
                <a:sym typeface="Calibri"/>
              </a:rPr>
              <a:t>I</a:t>
            </a:r>
            <a:r>
              <a:rPr b="1" lang="en" sz="2400">
                <a:solidFill>
                  <a:schemeClr val="dk1"/>
                </a:solidFill>
                <a:latin typeface="Calibri"/>
                <a:ea typeface="Calibri"/>
                <a:cs typeface="Calibri"/>
                <a:sym typeface="Calibri"/>
              </a:rPr>
              <a:t>nterpretable </a:t>
            </a:r>
            <a:r>
              <a:rPr b="1" lang="en" sz="2400">
                <a:solidFill>
                  <a:srgbClr val="851320"/>
                </a:solidFill>
                <a:latin typeface="Calibri"/>
                <a:ea typeface="Calibri"/>
                <a:cs typeface="Calibri"/>
                <a:sym typeface="Calibri"/>
              </a:rPr>
              <a:t>D</a:t>
            </a:r>
            <a:r>
              <a:rPr b="1" lang="en" sz="2400">
                <a:solidFill>
                  <a:schemeClr val="dk1"/>
                </a:solidFill>
                <a:latin typeface="Calibri"/>
                <a:ea typeface="Calibri"/>
                <a:cs typeface="Calibri"/>
                <a:sym typeface="Calibri"/>
              </a:rPr>
              <a:t>isaster Damage Assessment from Satellite and Street-View Imagery</a:t>
            </a:r>
            <a:endParaRPr b="1" sz="2400">
              <a:solidFill>
                <a:schemeClr val="dk1"/>
              </a:solidFill>
              <a:latin typeface="Calibri"/>
              <a:ea typeface="Calibri"/>
              <a:cs typeface="Calibri"/>
              <a:sym typeface="Calibri"/>
            </a:endParaRPr>
          </a:p>
        </p:txBody>
      </p:sp>
      <p:sp>
        <p:nvSpPr>
          <p:cNvPr id="77" name="Google Shape;77;p16"/>
          <p:cNvSpPr txBox="1"/>
          <p:nvPr/>
        </p:nvSpPr>
        <p:spPr>
          <a:xfrm>
            <a:off x="1356088" y="2959357"/>
            <a:ext cx="6150900" cy="1223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Calibri"/>
                <a:ea typeface="Calibri"/>
                <a:cs typeface="Calibri"/>
                <a:sym typeface="Calibri"/>
              </a:rPr>
              <a:t>Yifan Yang</a:t>
            </a:r>
            <a:r>
              <a:rPr i="0" lang="en" sz="1500" u="none" cap="none" strike="noStrike">
                <a:solidFill>
                  <a:srgbClr val="000000"/>
                </a:solidFill>
                <a:latin typeface="Calibri"/>
                <a:ea typeface="Calibri"/>
                <a:cs typeface="Calibri"/>
                <a:sym typeface="Calibri"/>
              </a:rPr>
              <a:t>, Ph.D. Student</a:t>
            </a:r>
            <a:endParaRPr i="0" sz="15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500"/>
              <a:buFont typeface="Arial"/>
              <a:buNone/>
            </a:pPr>
            <a:r>
              <a:rPr i="0" lang="en" sz="1500" u="none" cap="none" strike="noStrike">
                <a:solidFill>
                  <a:srgbClr val="000000"/>
                </a:solidFill>
                <a:latin typeface="Calibri"/>
                <a:ea typeface="Calibri"/>
                <a:cs typeface="Calibri"/>
                <a:sym typeface="Calibri"/>
              </a:rPr>
              <a:t>Advisor: Dr. Lei Zou (lzou@tamu.edu)</a:t>
            </a:r>
            <a:endParaRPr i="0" sz="15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500"/>
              <a:buFont typeface="Arial"/>
              <a:buNone/>
            </a:pPr>
            <a:r>
              <a:rPr i="0" lang="en" sz="1500" u="none" cap="none" strike="noStrike">
                <a:solidFill>
                  <a:srgbClr val="000000"/>
                </a:solidFill>
                <a:latin typeface="Calibri"/>
                <a:ea typeface="Calibri"/>
                <a:cs typeface="Calibri"/>
                <a:sym typeface="Calibri"/>
              </a:rPr>
              <a:t>Department of Geography, Texas A&amp;M University</a:t>
            </a:r>
            <a:endParaRPr i="0" sz="15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500"/>
              <a:buFont typeface="Arial"/>
              <a:buNone/>
            </a:pPr>
            <a:r>
              <a:rPr i="0" lang="en" sz="1500" u="none" cap="none" strike="noStrike">
                <a:solidFill>
                  <a:srgbClr val="000000"/>
                </a:solidFill>
                <a:latin typeface="Calibri"/>
                <a:ea typeface="Calibri"/>
                <a:cs typeface="Calibri"/>
                <a:sym typeface="Calibri"/>
              </a:rPr>
              <a:t>GEAR Lab Website: </a:t>
            </a:r>
            <a:r>
              <a:rPr i="0" lang="en" sz="1500" cap="none" strike="noStrike">
                <a:solidFill>
                  <a:srgbClr val="000000"/>
                </a:solidFill>
                <a:latin typeface="Calibri"/>
                <a:ea typeface="Calibri"/>
                <a:cs typeface="Calibri"/>
                <a:sym typeface="Calibri"/>
              </a:rPr>
              <a:t>https://www.geoearlab.com</a:t>
            </a:r>
            <a:endParaRPr i="0" sz="1500"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pic>
        <p:nvPicPr>
          <p:cNvPr id="78" name="Google Shape;78;p16"/>
          <p:cNvPicPr preferRelativeResize="0"/>
          <p:nvPr/>
        </p:nvPicPr>
        <p:blipFill>
          <a:blip r:embed="rId3">
            <a:alphaModFix/>
          </a:blip>
          <a:stretch>
            <a:fillRect/>
          </a:stretch>
        </p:blipFill>
        <p:spPr>
          <a:xfrm>
            <a:off x="74225" y="3838572"/>
            <a:ext cx="2428251" cy="1015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 sz="2800" u="none" cap="none" strike="noStrike">
                <a:solidFill>
                  <a:srgbClr val="500000"/>
                </a:solidFill>
                <a:latin typeface="Calibri"/>
                <a:ea typeface="Calibri"/>
                <a:cs typeface="Calibri"/>
                <a:sym typeface="Calibri"/>
              </a:rPr>
              <a:t>Background</a:t>
            </a:r>
            <a:endParaRPr b="1" i="0" sz="28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1" i="0" sz="2800" u="none" cap="none" strike="noStrike">
              <a:solidFill>
                <a:srgbClr val="500000"/>
              </a:solidFill>
              <a:latin typeface="Calibri"/>
              <a:ea typeface="Calibri"/>
              <a:cs typeface="Calibri"/>
              <a:sym typeface="Calibri"/>
            </a:endParaRPr>
          </a:p>
        </p:txBody>
      </p:sp>
      <p:pic>
        <p:nvPicPr>
          <p:cNvPr id="84" name="Google Shape;84;p17"/>
          <p:cNvPicPr preferRelativeResize="0"/>
          <p:nvPr/>
        </p:nvPicPr>
        <p:blipFill rotWithShape="1">
          <a:blip r:embed="rId3">
            <a:alphaModFix/>
          </a:blip>
          <a:srcRect b="0" l="0" r="0" t="0"/>
          <a:stretch/>
        </p:blipFill>
        <p:spPr>
          <a:xfrm>
            <a:off x="2955100" y="562763"/>
            <a:ext cx="4834801" cy="3583626"/>
          </a:xfrm>
          <a:prstGeom prst="rect">
            <a:avLst/>
          </a:prstGeom>
          <a:noFill/>
          <a:ln>
            <a:noFill/>
          </a:ln>
        </p:spPr>
      </p:pic>
      <p:pic>
        <p:nvPicPr>
          <p:cNvPr id="85" name="Google Shape;85;p17"/>
          <p:cNvPicPr preferRelativeResize="0"/>
          <p:nvPr/>
        </p:nvPicPr>
        <p:blipFill rotWithShape="1">
          <a:blip r:embed="rId4">
            <a:alphaModFix/>
          </a:blip>
          <a:srcRect b="0" l="0" r="0" t="0"/>
          <a:stretch/>
        </p:blipFill>
        <p:spPr>
          <a:xfrm>
            <a:off x="314475" y="641400"/>
            <a:ext cx="2577400" cy="2577400"/>
          </a:xfrm>
          <a:prstGeom prst="rect">
            <a:avLst/>
          </a:prstGeom>
          <a:noFill/>
          <a:ln>
            <a:noFill/>
          </a:ln>
        </p:spPr>
      </p:pic>
      <p:sp>
        <p:nvSpPr>
          <p:cNvPr id="86" name="Google Shape;86;p17"/>
          <p:cNvSpPr txBox="1"/>
          <p:nvPr/>
        </p:nvSpPr>
        <p:spPr>
          <a:xfrm>
            <a:off x="1701625" y="4279350"/>
            <a:ext cx="598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 Satellite Imagery--Rapid, large-scale observation immediately after disasters</a:t>
            </a:r>
            <a:endParaRPr>
              <a:latin typeface="Calibri"/>
              <a:ea typeface="Calibri"/>
              <a:cs typeface="Calibri"/>
              <a:sym typeface="Calibri"/>
            </a:endParaRPr>
          </a:p>
        </p:txBody>
      </p:sp>
      <p:sp>
        <p:nvSpPr>
          <p:cNvPr id="87" name="Google Shape;87;p17"/>
          <p:cNvSpPr txBox="1"/>
          <p:nvPr>
            <p:ph idx="4294967295" type="sldNum"/>
          </p:nvPr>
        </p:nvSpPr>
        <p:spPr>
          <a:xfrm>
            <a:off x="7046595" y="4989671"/>
            <a:ext cx="2057400" cy="15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b="1" lang="en">
                <a:solidFill>
                  <a:schemeClr val="lt1"/>
                </a:solidFill>
              </a:rPr>
              <a:t>‹#›</a:t>
            </a:fld>
            <a:endParaRPr b="1">
              <a:solidFill>
                <a:schemeClr val="lt1"/>
              </a:solidFill>
            </a:endParaRPr>
          </a:p>
        </p:txBody>
      </p:sp>
      <p:sp>
        <p:nvSpPr>
          <p:cNvPr id="88" name="Google Shape;88;p17"/>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 sz="2800" u="none" cap="none" strike="noStrike">
                <a:solidFill>
                  <a:srgbClr val="500000"/>
                </a:solidFill>
                <a:latin typeface="Calibri"/>
                <a:ea typeface="Calibri"/>
                <a:cs typeface="Calibri"/>
                <a:sym typeface="Calibri"/>
              </a:rPr>
              <a:t>Background</a:t>
            </a:r>
            <a:endParaRPr b="1" i="0" sz="28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1" i="0" sz="2800" u="none" cap="none" strike="noStrike">
              <a:solidFill>
                <a:srgbClr val="500000"/>
              </a:solidFill>
              <a:latin typeface="Calibri"/>
              <a:ea typeface="Calibri"/>
              <a:cs typeface="Calibri"/>
              <a:sym typeface="Calibri"/>
            </a:endParaRPr>
          </a:p>
        </p:txBody>
      </p:sp>
      <p:pic>
        <p:nvPicPr>
          <p:cNvPr id="94" name="Google Shape;94;p18"/>
          <p:cNvPicPr preferRelativeResize="0"/>
          <p:nvPr/>
        </p:nvPicPr>
        <p:blipFill rotWithShape="1">
          <a:blip r:embed="rId3">
            <a:alphaModFix/>
          </a:blip>
          <a:srcRect b="0" l="0" r="0" t="0"/>
          <a:stretch/>
        </p:blipFill>
        <p:spPr>
          <a:xfrm>
            <a:off x="291663" y="780300"/>
            <a:ext cx="2874675" cy="2874675"/>
          </a:xfrm>
          <a:prstGeom prst="rect">
            <a:avLst/>
          </a:prstGeom>
          <a:noFill/>
          <a:ln>
            <a:noFill/>
          </a:ln>
        </p:spPr>
      </p:pic>
      <p:pic>
        <p:nvPicPr>
          <p:cNvPr id="95" name="Google Shape;95;p18"/>
          <p:cNvPicPr preferRelativeResize="0"/>
          <p:nvPr/>
        </p:nvPicPr>
        <p:blipFill rotWithShape="1">
          <a:blip r:embed="rId4">
            <a:alphaModFix/>
          </a:blip>
          <a:srcRect b="0" l="0" r="0" t="0"/>
          <a:stretch/>
        </p:blipFill>
        <p:spPr>
          <a:xfrm>
            <a:off x="3251725" y="863654"/>
            <a:ext cx="5718175" cy="2707975"/>
          </a:xfrm>
          <a:prstGeom prst="rect">
            <a:avLst/>
          </a:prstGeom>
          <a:noFill/>
          <a:ln>
            <a:noFill/>
          </a:ln>
        </p:spPr>
      </p:pic>
      <p:sp>
        <p:nvSpPr>
          <p:cNvPr id="96" name="Google Shape;96;p18"/>
          <p:cNvSpPr txBox="1"/>
          <p:nvPr/>
        </p:nvSpPr>
        <p:spPr>
          <a:xfrm>
            <a:off x="1154400" y="4001300"/>
            <a:ext cx="657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Street-View Imagery-- Human-scale context, essential for structural damage assessment</a:t>
            </a:r>
            <a:endParaRPr>
              <a:latin typeface="Calibri"/>
              <a:ea typeface="Calibri"/>
              <a:cs typeface="Calibri"/>
              <a:sym typeface="Calibri"/>
            </a:endParaRPr>
          </a:p>
        </p:txBody>
      </p:sp>
      <p:sp>
        <p:nvSpPr>
          <p:cNvPr id="97" name="Google Shape;97;p18"/>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 sz="2800" u="none" cap="none" strike="noStrike">
                <a:solidFill>
                  <a:srgbClr val="500000"/>
                </a:solidFill>
                <a:latin typeface="Calibri"/>
                <a:ea typeface="Calibri"/>
                <a:cs typeface="Calibri"/>
                <a:sym typeface="Calibri"/>
              </a:rPr>
              <a:t>Background</a:t>
            </a:r>
            <a:endParaRPr b="1" i="0" sz="28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1" i="0" sz="2800" u="none" cap="none" strike="noStrike">
              <a:solidFill>
                <a:srgbClr val="500000"/>
              </a:solidFill>
              <a:latin typeface="Calibri"/>
              <a:ea typeface="Calibri"/>
              <a:cs typeface="Calibri"/>
              <a:sym typeface="Calibri"/>
            </a:endParaRPr>
          </a:p>
        </p:txBody>
      </p:sp>
      <p:pic>
        <p:nvPicPr>
          <p:cNvPr id="103" name="Google Shape;103;p19"/>
          <p:cNvPicPr preferRelativeResize="0"/>
          <p:nvPr/>
        </p:nvPicPr>
        <p:blipFill>
          <a:blip r:embed="rId3">
            <a:alphaModFix/>
          </a:blip>
          <a:stretch>
            <a:fillRect/>
          </a:stretch>
        </p:blipFill>
        <p:spPr>
          <a:xfrm>
            <a:off x="331575" y="546075"/>
            <a:ext cx="8480855" cy="4136901"/>
          </a:xfrm>
          <a:prstGeom prst="rect">
            <a:avLst/>
          </a:prstGeom>
          <a:noFill/>
          <a:ln>
            <a:noFill/>
          </a:ln>
        </p:spPr>
      </p:pic>
      <p:sp>
        <p:nvSpPr>
          <p:cNvPr id="104" name="Google Shape;104;p19"/>
          <p:cNvSpPr txBox="1"/>
          <p:nvPr/>
        </p:nvSpPr>
        <p:spPr>
          <a:xfrm>
            <a:off x="1539025" y="4747825"/>
            <a:ext cx="6315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alibri"/>
                <a:ea typeface="Calibri"/>
                <a:cs typeface="Calibri"/>
                <a:sym typeface="Calibri"/>
              </a:rPr>
              <a:t>https://lacounty.maps.arcgis.com/apps/instant/sidebar/index.html?appid=2209ecd140d8456291aeba7adbdfd69b</a:t>
            </a:r>
            <a:endParaRPr sz="1000">
              <a:latin typeface="Calibri"/>
              <a:ea typeface="Calibri"/>
              <a:cs typeface="Calibri"/>
              <a:sym typeface="Calibri"/>
            </a:endParaRPr>
          </a:p>
        </p:txBody>
      </p:sp>
      <p:sp>
        <p:nvSpPr>
          <p:cNvPr id="105" name="Google Shape;105;p19"/>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nvSpPr>
        <p:spPr>
          <a:xfrm>
            <a:off x="0" y="0"/>
            <a:ext cx="7291500" cy="9543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500000"/>
                </a:solidFill>
                <a:latin typeface="Calibri"/>
                <a:ea typeface="Calibri"/>
                <a:cs typeface="Calibri"/>
                <a:sym typeface="Calibri"/>
              </a:rPr>
              <a:t>Background</a:t>
            </a:r>
            <a:endParaRPr b="1" i="0" sz="21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500000"/>
                </a:solidFill>
                <a:latin typeface="Calibri"/>
                <a:ea typeface="Calibri"/>
                <a:cs typeface="Calibri"/>
                <a:sym typeface="Calibri"/>
              </a:rPr>
              <a:t> Two Families of AI — (Discriminative vs. Generative) </a:t>
            </a:r>
            <a:endParaRPr b="1" i="0" sz="21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2" name="Google Shape;112;p20"/>
          <p:cNvSpPr txBox="1"/>
          <p:nvPr>
            <p:ph idx="4294967295" type="sldNum"/>
          </p:nvPr>
        </p:nvSpPr>
        <p:spPr>
          <a:xfrm>
            <a:off x="8772638" y="4973869"/>
            <a:ext cx="331500" cy="1698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b="1" lang="en" sz="1400">
                <a:solidFill>
                  <a:schemeClr val="lt1"/>
                </a:solidFill>
              </a:rPr>
              <a:t>‹#›</a:t>
            </a:fld>
            <a:endParaRPr b="1" sz="1400">
              <a:solidFill>
                <a:schemeClr val="lt1"/>
              </a:solidFill>
            </a:endParaRPr>
          </a:p>
        </p:txBody>
      </p:sp>
      <p:pic>
        <p:nvPicPr>
          <p:cNvPr id="113" name="Google Shape;113;p20"/>
          <p:cNvPicPr preferRelativeResize="0"/>
          <p:nvPr/>
        </p:nvPicPr>
        <p:blipFill rotWithShape="1">
          <a:blip r:embed="rId3">
            <a:alphaModFix/>
          </a:blip>
          <a:srcRect b="0" l="0" r="0" t="0"/>
          <a:stretch/>
        </p:blipFill>
        <p:spPr>
          <a:xfrm>
            <a:off x="1363519" y="946575"/>
            <a:ext cx="2445057" cy="2445057"/>
          </a:xfrm>
          <a:prstGeom prst="rect">
            <a:avLst/>
          </a:prstGeom>
          <a:noFill/>
          <a:ln>
            <a:noFill/>
          </a:ln>
        </p:spPr>
      </p:pic>
      <p:pic>
        <p:nvPicPr>
          <p:cNvPr id="114" name="Google Shape;114;p20"/>
          <p:cNvPicPr preferRelativeResize="0"/>
          <p:nvPr/>
        </p:nvPicPr>
        <p:blipFill rotWithShape="1">
          <a:blip r:embed="rId3">
            <a:alphaModFix/>
          </a:blip>
          <a:srcRect b="0" l="0" r="0" t="0"/>
          <a:stretch/>
        </p:blipFill>
        <p:spPr>
          <a:xfrm>
            <a:off x="5340225" y="892294"/>
            <a:ext cx="2445057" cy="2445057"/>
          </a:xfrm>
          <a:prstGeom prst="rect">
            <a:avLst/>
          </a:prstGeom>
          <a:noFill/>
          <a:ln>
            <a:noFill/>
          </a:ln>
        </p:spPr>
      </p:pic>
      <p:sp>
        <p:nvSpPr>
          <p:cNvPr id="115" name="Google Shape;115;p20"/>
          <p:cNvSpPr txBox="1"/>
          <p:nvPr/>
        </p:nvSpPr>
        <p:spPr>
          <a:xfrm>
            <a:off x="100106" y="1579406"/>
            <a:ext cx="1795800" cy="4155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800"/>
              <a:buFont typeface="Arial"/>
              <a:buNone/>
            </a:pPr>
            <a:r>
              <a:rPr b="1" i="1" lang="en" sz="1800" u="none" cap="none" strike="noStrike">
                <a:solidFill>
                  <a:srgbClr val="851320"/>
                </a:solidFill>
                <a:latin typeface="Calibri"/>
                <a:ea typeface="Calibri"/>
                <a:cs typeface="Calibri"/>
                <a:sym typeface="Calibri"/>
              </a:rPr>
              <a:t>Discriminative AI</a:t>
            </a:r>
            <a:endParaRPr b="0" i="1" sz="1800" u="none" cap="none" strike="noStrike">
              <a:solidFill>
                <a:srgbClr val="851320"/>
              </a:solidFill>
              <a:latin typeface="Calibri"/>
              <a:ea typeface="Calibri"/>
              <a:cs typeface="Calibri"/>
              <a:sym typeface="Calibri"/>
            </a:endParaRPr>
          </a:p>
        </p:txBody>
      </p:sp>
      <p:sp>
        <p:nvSpPr>
          <p:cNvPr id="116" name="Google Shape;116;p20"/>
          <p:cNvSpPr txBox="1"/>
          <p:nvPr/>
        </p:nvSpPr>
        <p:spPr>
          <a:xfrm>
            <a:off x="318675" y="3238669"/>
            <a:ext cx="4378800" cy="1431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Calibri"/>
                <a:ea typeface="Calibri"/>
                <a:cs typeface="Calibri"/>
                <a:sym typeface="Calibri"/>
              </a:rPr>
              <a:t>Designed for </a:t>
            </a:r>
            <a:r>
              <a:rPr b="1" i="0" lang="en" sz="1200" u="none" cap="none" strike="noStrike">
                <a:solidFill>
                  <a:srgbClr val="7B1113"/>
                </a:solidFill>
                <a:latin typeface="Calibri"/>
                <a:ea typeface="Calibri"/>
                <a:cs typeface="Calibri"/>
                <a:sym typeface="Calibri"/>
              </a:rPr>
              <a:t>closed-ended questions with labeled answers </a:t>
            </a:r>
            <a:r>
              <a:rPr b="0" i="0" lang="en" sz="1200" u="none" cap="none" strike="noStrike">
                <a:solidFill>
                  <a:schemeClr val="dk1"/>
                </a:solidFill>
                <a:latin typeface="Calibri"/>
                <a:ea typeface="Calibri"/>
                <a:cs typeface="Calibri"/>
                <a:sym typeface="Calibri"/>
              </a:rPr>
              <a:t>(such as "what is it" or "to what extent"):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Calibri"/>
                <a:ea typeface="Calibri"/>
                <a:cs typeface="Calibri"/>
                <a:sym typeface="Calibri"/>
              </a:rPr>
              <a:t>"Is this building damaged?"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Calibri"/>
                <a:ea typeface="Calibri"/>
                <a:cs typeface="Calibri"/>
                <a:sym typeface="Calibri"/>
              </a:rPr>
              <a:t>"What is the extent of the damage—none/minor/severe/total destruction?"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17" name="Google Shape;117;p20"/>
          <p:cNvSpPr txBox="1"/>
          <p:nvPr/>
        </p:nvSpPr>
        <p:spPr>
          <a:xfrm>
            <a:off x="7291350" y="1579406"/>
            <a:ext cx="1674300" cy="4155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800"/>
              <a:buFont typeface="Arial"/>
              <a:buNone/>
            </a:pPr>
            <a:r>
              <a:rPr b="1" i="1" lang="en" sz="1800" u="none" cap="none" strike="noStrike">
                <a:solidFill>
                  <a:srgbClr val="851320"/>
                </a:solidFill>
                <a:latin typeface="Calibri"/>
                <a:ea typeface="Calibri"/>
                <a:cs typeface="Calibri"/>
                <a:sym typeface="Calibri"/>
              </a:rPr>
              <a:t>Generative AI</a:t>
            </a:r>
            <a:endParaRPr b="0" i="1" sz="1800" u="none" cap="none" strike="noStrike">
              <a:solidFill>
                <a:srgbClr val="851320"/>
              </a:solidFill>
              <a:latin typeface="Calibri"/>
              <a:ea typeface="Calibri"/>
              <a:cs typeface="Calibri"/>
              <a:sym typeface="Calibri"/>
            </a:endParaRPr>
          </a:p>
        </p:txBody>
      </p:sp>
      <p:sp>
        <p:nvSpPr>
          <p:cNvPr id="118" name="Google Shape;118;p20"/>
          <p:cNvSpPr txBox="1"/>
          <p:nvPr/>
        </p:nvSpPr>
        <p:spPr>
          <a:xfrm>
            <a:off x="4913888" y="3238669"/>
            <a:ext cx="3907200" cy="10620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7B1113"/>
                </a:solidFill>
                <a:latin typeface="Calibri"/>
                <a:ea typeface="Calibri"/>
                <a:cs typeface="Calibri"/>
                <a:sym typeface="Calibri"/>
              </a:rPr>
              <a:t>Open-ended/Constructive Questions </a:t>
            </a:r>
            <a:r>
              <a:rPr b="1" lang="en" sz="1200">
                <a:solidFill>
                  <a:srgbClr val="7B1113"/>
                </a:solidFill>
                <a:latin typeface="Calibri"/>
                <a:ea typeface="Calibri"/>
                <a:cs typeface="Calibri"/>
                <a:sym typeface="Calibri"/>
              </a:rPr>
              <a:t> </a:t>
            </a:r>
            <a:r>
              <a:rPr b="0" i="0" lang="en" sz="1200" u="none" cap="none" strike="noStrike">
                <a:solidFill>
                  <a:srgbClr val="000000"/>
                </a:solidFill>
                <a:latin typeface="Calibri"/>
                <a:ea typeface="Calibri"/>
                <a:cs typeface="Calibri"/>
                <a:sym typeface="Calibri"/>
              </a:rPr>
              <a:t>("What is missing? / What if...? / How should it be presented, and why?")</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alibri"/>
                <a:ea typeface="Calibri"/>
                <a:cs typeface="Calibri"/>
                <a:sym typeface="Calibri"/>
              </a:rPr>
              <a:t>"Why was this location assessed as severely damaged? What actions should rescue personnel take here?"</a:t>
            </a:r>
            <a:endParaRPr b="0" i="0" sz="1100" u="none" cap="none" strike="noStrike">
              <a:solidFill>
                <a:srgbClr val="000000"/>
              </a:solidFill>
              <a:latin typeface="Arial"/>
              <a:ea typeface="Arial"/>
              <a:cs typeface="Arial"/>
              <a:sym typeface="Arial"/>
            </a:endParaRPr>
          </a:p>
        </p:txBody>
      </p:sp>
      <p:sp>
        <p:nvSpPr>
          <p:cNvPr id="119" name="Google Shape;119;p20"/>
          <p:cNvSpPr txBox="1"/>
          <p:nvPr>
            <p:ph idx="4294967295" type="sldNum"/>
          </p:nvPr>
        </p:nvSpPr>
        <p:spPr>
          <a:xfrm>
            <a:off x="8772638" y="4973869"/>
            <a:ext cx="331500" cy="1698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b="1" lang="en" sz="1400">
                <a:solidFill>
                  <a:schemeClr val="lt1"/>
                </a:solidFill>
              </a:rPr>
              <a:t>‹#›</a:t>
            </a:fld>
            <a:endParaRPr b="1" sz="1400">
              <a:solidFill>
                <a:schemeClr val="lt1"/>
              </a:solidFill>
            </a:endParaRPr>
          </a:p>
        </p:txBody>
      </p:sp>
      <p:sp>
        <p:nvSpPr>
          <p:cNvPr id="120" name="Google Shape;120;p20"/>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126" name="Google Shape;126;p21"/>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 sz="2800" u="none" cap="none" strike="noStrike">
                <a:solidFill>
                  <a:srgbClr val="500000"/>
                </a:solidFill>
                <a:latin typeface="Calibri"/>
                <a:ea typeface="Calibri"/>
                <a:cs typeface="Calibri"/>
                <a:sym typeface="Calibri"/>
              </a:rPr>
              <a:t>Research Question</a:t>
            </a:r>
            <a:endParaRPr b="1" i="0" sz="28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1" i="0" sz="2800" u="none" cap="none" strike="noStrike">
              <a:solidFill>
                <a:srgbClr val="500000"/>
              </a:solidFill>
              <a:latin typeface="Calibri"/>
              <a:ea typeface="Calibri"/>
              <a:cs typeface="Calibri"/>
              <a:sym typeface="Calibri"/>
            </a:endParaRPr>
          </a:p>
        </p:txBody>
      </p:sp>
      <p:pic>
        <p:nvPicPr>
          <p:cNvPr id="127" name="Google Shape;127;p21"/>
          <p:cNvPicPr preferRelativeResize="0"/>
          <p:nvPr/>
        </p:nvPicPr>
        <p:blipFill rotWithShape="1">
          <a:blip r:embed="rId3">
            <a:alphaModFix/>
          </a:blip>
          <a:srcRect b="0" l="0" r="0" t="0"/>
          <a:stretch/>
        </p:blipFill>
        <p:spPr>
          <a:xfrm>
            <a:off x="117175" y="790572"/>
            <a:ext cx="5362650" cy="2867450"/>
          </a:xfrm>
          <a:prstGeom prst="rect">
            <a:avLst/>
          </a:prstGeom>
          <a:noFill/>
          <a:ln>
            <a:noFill/>
          </a:ln>
        </p:spPr>
      </p:pic>
      <p:sp>
        <p:nvSpPr>
          <p:cNvPr id="128" name="Google Shape;128;p21"/>
          <p:cNvSpPr txBox="1"/>
          <p:nvPr/>
        </p:nvSpPr>
        <p:spPr>
          <a:xfrm>
            <a:off x="5359325" y="1228800"/>
            <a:ext cx="3676500" cy="2685900"/>
          </a:xfrm>
          <a:prstGeom prst="rect">
            <a:avLst/>
          </a:prstGeom>
          <a:noFill/>
          <a:ln>
            <a:noFill/>
          </a:ln>
        </p:spPr>
        <p:txBody>
          <a:bodyPr anchorCtr="0" anchor="t" bIns="91425" lIns="91425" spcFirstLastPara="1" rIns="91425" wrap="square" tIns="91425">
            <a:spAutoFit/>
          </a:bodyPr>
          <a:lstStyle/>
          <a:p>
            <a:pPr indent="0" lvl="0" marL="228600" marR="0" rtl="0" algn="l">
              <a:lnSpc>
                <a:spcPct val="105000"/>
              </a:lnSpc>
              <a:spcBef>
                <a:spcPts val="1200"/>
              </a:spcBef>
              <a:spcAft>
                <a:spcPts val="0"/>
              </a:spcAft>
              <a:buClr>
                <a:srgbClr val="000000"/>
              </a:buClr>
              <a:buSzPts val="1800"/>
              <a:buFont typeface="Arial"/>
              <a:buNone/>
            </a:pPr>
            <a:r>
              <a:rPr b="1" lang="en" sz="1800">
                <a:solidFill>
                  <a:srgbClr val="000000"/>
                </a:solidFill>
                <a:latin typeface="Calibri"/>
                <a:ea typeface="Calibri"/>
                <a:cs typeface="Calibri"/>
                <a:sym typeface="Calibri"/>
              </a:rPr>
              <a:t>Research Question</a:t>
            </a:r>
            <a:endParaRPr b="1" sz="1800">
              <a:solidFill>
                <a:srgbClr val="000000"/>
              </a:solidFill>
              <a:latin typeface="Calibri"/>
              <a:ea typeface="Calibri"/>
              <a:cs typeface="Calibri"/>
              <a:sym typeface="Calibri"/>
            </a:endParaRPr>
          </a:p>
          <a:p>
            <a:pPr indent="0" lvl="0" marL="228600" marR="0" rtl="0" algn="l">
              <a:lnSpc>
                <a:spcPct val="105000"/>
              </a:lnSpc>
              <a:spcBef>
                <a:spcPts val="1200"/>
              </a:spcBef>
              <a:spcAft>
                <a:spcPts val="0"/>
              </a:spcAft>
              <a:buClr>
                <a:srgbClr val="000000"/>
              </a:buClr>
              <a:buSzPts val="1800"/>
              <a:buFont typeface="Arial"/>
              <a:buNone/>
            </a:pPr>
            <a:r>
              <a:rPr b="1" lang="en" sz="1800">
                <a:solidFill>
                  <a:srgbClr val="000000"/>
                </a:solidFill>
                <a:latin typeface="Calibri"/>
                <a:ea typeface="Calibri"/>
                <a:cs typeface="Calibri"/>
                <a:sym typeface="Calibri"/>
              </a:rPr>
              <a:t>Can RAPID</a:t>
            </a:r>
            <a:r>
              <a:rPr b="1" lang="en" sz="1800">
                <a:latin typeface="Calibri"/>
                <a:ea typeface="Calibri"/>
                <a:cs typeface="Calibri"/>
                <a:sym typeface="Calibri"/>
              </a:rPr>
              <a:t>map</a:t>
            </a:r>
            <a:r>
              <a:rPr b="1" lang="en" sz="1800">
                <a:solidFill>
                  <a:srgbClr val="000000"/>
                </a:solidFill>
                <a:latin typeface="Calibri"/>
                <a:ea typeface="Calibri"/>
                <a:cs typeface="Calibri"/>
                <a:sym typeface="Calibri"/>
              </a:rPr>
              <a:t> support:</a:t>
            </a:r>
            <a:endParaRPr b="1" sz="1800">
              <a:solidFill>
                <a:srgbClr val="000000"/>
              </a:solidFill>
              <a:latin typeface="Calibri"/>
              <a:ea typeface="Calibri"/>
              <a:cs typeface="Calibri"/>
              <a:sym typeface="Calibri"/>
            </a:endParaRPr>
          </a:p>
          <a:p>
            <a:pPr indent="0" lvl="0" marL="228600" marR="0" rtl="0" algn="l">
              <a:lnSpc>
                <a:spcPct val="105000"/>
              </a:lnSpc>
              <a:spcBef>
                <a:spcPts val="1200"/>
              </a:spcBef>
              <a:spcAft>
                <a:spcPts val="0"/>
              </a:spcAft>
              <a:buClr>
                <a:srgbClr val="000000"/>
              </a:buClr>
              <a:buSzPts val="1800"/>
              <a:buFont typeface="Arial"/>
              <a:buNone/>
            </a:pPr>
            <a:r>
              <a:rPr lang="en" sz="1800">
                <a:solidFill>
                  <a:srgbClr val="000000"/>
                </a:solidFill>
                <a:latin typeface="Calibri"/>
                <a:ea typeface="Calibri"/>
                <a:cs typeface="Calibri"/>
                <a:sym typeface="Calibri"/>
              </a:rPr>
              <a:t>• Cross-view assessment?</a:t>
            </a:r>
            <a:endParaRPr sz="1800">
              <a:solidFill>
                <a:srgbClr val="000000"/>
              </a:solidFill>
              <a:latin typeface="Calibri"/>
              <a:ea typeface="Calibri"/>
              <a:cs typeface="Calibri"/>
              <a:sym typeface="Calibri"/>
            </a:endParaRPr>
          </a:p>
          <a:p>
            <a:pPr indent="0" lvl="0" marL="228600" marR="0" rtl="0" algn="l">
              <a:lnSpc>
                <a:spcPct val="105000"/>
              </a:lnSpc>
              <a:spcBef>
                <a:spcPts val="1200"/>
              </a:spcBef>
              <a:spcAft>
                <a:spcPts val="0"/>
              </a:spcAft>
              <a:buClr>
                <a:srgbClr val="000000"/>
              </a:buClr>
              <a:buSzPts val="1800"/>
              <a:buFont typeface="Arial"/>
              <a:buNone/>
            </a:pPr>
            <a:r>
              <a:rPr lang="en" sz="1800">
                <a:solidFill>
                  <a:srgbClr val="000000"/>
                </a:solidFill>
                <a:latin typeface="Calibri"/>
                <a:ea typeface="Calibri"/>
                <a:cs typeface="Calibri"/>
                <a:sym typeface="Calibri"/>
              </a:rPr>
              <a:t>• Different regions and hazards?</a:t>
            </a:r>
            <a:endParaRPr sz="1800">
              <a:solidFill>
                <a:srgbClr val="000000"/>
              </a:solidFill>
              <a:latin typeface="Calibri"/>
              <a:ea typeface="Calibri"/>
              <a:cs typeface="Calibri"/>
              <a:sym typeface="Calibri"/>
            </a:endParaRPr>
          </a:p>
          <a:p>
            <a:pPr indent="0" lvl="0" marL="228600" marR="0" rtl="0" algn="l">
              <a:lnSpc>
                <a:spcPct val="105000"/>
              </a:lnSpc>
              <a:spcBef>
                <a:spcPts val="1200"/>
              </a:spcBef>
              <a:spcAft>
                <a:spcPts val="0"/>
              </a:spcAft>
              <a:buClr>
                <a:srgbClr val="000000"/>
              </a:buClr>
              <a:buSzPts val="1800"/>
              <a:buFont typeface="Arial"/>
              <a:buNone/>
            </a:pPr>
            <a:r>
              <a:rPr lang="en" sz="1800">
                <a:solidFill>
                  <a:srgbClr val="000000"/>
                </a:solidFill>
                <a:latin typeface="Calibri"/>
                <a:ea typeface="Calibri"/>
                <a:cs typeface="Calibri"/>
                <a:sym typeface="Calibri"/>
              </a:rPr>
              <a:t>• Rapid zero-shot reasoning?</a:t>
            </a:r>
            <a:endParaRPr sz="1800">
              <a:solidFill>
                <a:srgbClr val="000000"/>
              </a:solidFill>
              <a:latin typeface="Calibri"/>
              <a:ea typeface="Calibri"/>
              <a:cs typeface="Calibri"/>
              <a:sym typeface="Calibri"/>
            </a:endParaRPr>
          </a:p>
          <a:p>
            <a:pPr indent="0" lvl="0" marL="228600" marR="0" rtl="0" algn="l">
              <a:lnSpc>
                <a:spcPct val="105000"/>
              </a:lnSpc>
              <a:spcBef>
                <a:spcPts val="1200"/>
              </a:spcBef>
              <a:spcAft>
                <a:spcPts val="300"/>
              </a:spcAft>
              <a:buClr>
                <a:srgbClr val="000000"/>
              </a:buClr>
              <a:buSzPts val="1800"/>
              <a:buFont typeface="Arial"/>
              <a:buNone/>
            </a:pPr>
            <a:r>
              <a:rPr lang="en" sz="1800">
                <a:solidFill>
                  <a:srgbClr val="000000"/>
                </a:solidFill>
                <a:latin typeface="Calibri"/>
                <a:ea typeface="Calibri"/>
                <a:cs typeface="Calibri"/>
                <a:sym typeface="Calibri"/>
              </a:rPr>
              <a:t>• Interpretable damage reports?</a:t>
            </a:r>
            <a:endParaRPr sz="1800">
              <a:solidFill>
                <a:srgbClr val="000000"/>
              </a:solidFill>
              <a:latin typeface="Calibri"/>
              <a:ea typeface="Calibri"/>
              <a:cs typeface="Calibri"/>
              <a:sym typeface="Calibri"/>
            </a:endParaRPr>
          </a:p>
        </p:txBody>
      </p:sp>
      <p:pic>
        <p:nvPicPr>
          <p:cNvPr id="129" name="Google Shape;129;p21"/>
          <p:cNvPicPr preferRelativeResize="0"/>
          <p:nvPr/>
        </p:nvPicPr>
        <p:blipFill rotWithShape="1">
          <a:blip r:embed="rId4">
            <a:alphaModFix/>
          </a:blip>
          <a:srcRect b="0" l="0" r="0" t="0"/>
          <a:stretch/>
        </p:blipFill>
        <p:spPr>
          <a:xfrm>
            <a:off x="3387300" y="2983775"/>
            <a:ext cx="2057400" cy="2057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135" name="Google Shape;135;p22"/>
          <p:cNvSpPr txBox="1"/>
          <p:nvPr/>
        </p:nvSpPr>
        <p:spPr>
          <a:xfrm>
            <a:off x="197175" y="3107170"/>
            <a:ext cx="8506800" cy="1019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1" sz="1500">
              <a:solidFill>
                <a:srgbClr val="500000"/>
              </a:solidFill>
            </a:endParaRPr>
          </a:p>
        </p:txBody>
      </p:sp>
      <p:pic>
        <p:nvPicPr>
          <p:cNvPr id="136" name="Google Shape;136;p22" title="Dataset.png"/>
          <p:cNvPicPr preferRelativeResize="0"/>
          <p:nvPr/>
        </p:nvPicPr>
        <p:blipFill>
          <a:blip r:embed="rId3">
            <a:alphaModFix/>
          </a:blip>
          <a:stretch>
            <a:fillRect/>
          </a:stretch>
        </p:blipFill>
        <p:spPr>
          <a:xfrm>
            <a:off x="1317738" y="71188"/>
            <a:ext cx="7075973" cy="4892376"/>
          </a:xfrm>
          <a:prstGeom prst="rect">
            <a:avLst/>
          </a:prstGeom>
          <a:noFill/>
          <a:ln>
            <a:noFill/>
          </a:ln>
        </p:spPr>
      </p:pic>
      <p:sp>
        <p:nvSpPr>
          <p:cNvPr id="137" name="Google Shape;137;p22"/>
          <p:cNvSpPr txBox="1"/>
          <p:nvPr/>
        </p:nvSpPr>
        <p:spPr>
          <a:xfrm>
            <a:off x="0" y="0"/>
            <a:ext cx="1407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500000"/>
                </a:solidFill>
                <a:latin typeface="Times New Roman"/>
                <a:ea typeface="Times New Roman"/>
                <a:cs typeface="Times New Roman"/>
                <a:sym typeface="Times New Roman"/>
              </a:rPr>
              <a:t>Dataset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3"/>
          <p:cNvPicPr preferRelativeResize="0"/>
          <p:nvPr/>
        </p:nvPicPr>
        <p:blipFill rotWithShape="1">
          <a:blip r:embed="rId3">
            <a:alphaModFix/>
          </a:blip>
          <a:srcRect b="0" l="0" r="0" t="0"/>
          <a:stretch/>
        </p:blipFill>
        <p:spPr>
          <a:xfrm>
            <a:off x="128325" y="192000"/>
            <a:ext cx="6612925" cy="4631150"/>
          </a:xfrm>
          <a:prstGeom prst="rect">
            <a:avLst/>
          </a:prstGeom>
          <a:noFill/>
          <a:ln>
            <a:noFill/>
          </a:ln>
        </p:spPr>
      </p:pic>
      <p:sp>
        <p:nvSpPr>
          <p:cNvPr id="143" name="Google Shape;143;p23"/>
          <p:cNvSpPr txBox="1"/>
          <p:nvPr/>
        </p:nvSpPr>
        <p:spPr>
          <a:xfrm>
            <a:off x="6741250" y="1223825"/>
            <a:ext cx="2385900" cy="2120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1200"/>
              </a:spcBef>
              <a:spcAft>
                <a:spcPts val="0"/>
              </a:spcAft>
              <a:buClr>
                <a:srgbClr val="000000"/>
              </a:buClr>
              <a:buSzPts val="1100"/>
              <a:buFont typeface="Arial"/>
              <a:buNone/>
            </a:pPr>
            <a:r>
              <a:rPr b="1" lang="en" sz="1500">
                <a:solidFill>
                  <a:srgbClr val="000000"/>
                </a:solidFill>
                <a:latin typeface="Calibri"/>
                <a:ea typeface="Calibri"/>
                <a:cs typeface="Calibri"/>
                <a:sym typeface="Calibri"/>
              </a:rPr>
              <a:t>• Cross-view imagery input</a:t>
            </a:r>
            <a:endParaRPr b="1" sz="1500">
              <a:solidFill>
                <a:srgbClr val="000000"/>
              </a:solidFill>
              <a:latin typeface="Calibri"/>
              <a:ea typeface="Calibri"/>
              <a:cs typeface="Calibri"/>
              <a:sym typeface="Calibri"/>
            </a:endParaRPr>
          </a:p>
          <a:p>
            <a:pPr indent="0" lvl="0" marL="0" rtl="0" algn="l">
              <a:lnSpc>
                <a:spcPct val="105000"/>
              </a:lnSpc>
              <a:spcBef>
                <a:spcPts val="1200"/>
              </a:spcBef>
              <a:spcAft>
                <a:spcPts val="0"/>
              </a:spcAft>
              <a:buClr>
                <a:srgbClr val="000000"/>
              </a:buClr>
              <a:buSzPts val="1100"/>
              <a:buFont typeface="Arial"/>
              <a:buNone/>
            </a:pPr>
            <a:r>
              <a:rPr b="1" lang="en" sz="1500">
                <a:solidFill>
                  <a:srgbClr val="000000"/>
                </a:solidFill>
                <a:latin typeface="Calibri"/>
                <a:ea typeface="Calibri"/>
                <a:cs typeface="Calibri"/>
                <a:sym typeface="Calibri"/>
              </a:rPr>
              <a:t>• Zero-shot multi-agent assessment</a:t>
            </a:r>
            <a:endParaRPr b="1" sz="1500">
              <a:solidFill>
                <a:srgbClr val="000000"/>
              </a:solidFill>
              <a:latin typeface="Calibri"/>
              <a:ea typeface="Calibri"/>
              <a:cs typeface="Calibri"/>
              <a:sym typeface="Calibri"/>
            </a:endParaRPr>
          </a:p>
          <a:p>
            <a:pPr indent="0" lvl="0" marL="0" rtl="0" algn="l">
              <a:lnSpc>
                <a:spcPct val="105000"/>
              </a:lnSpc>
              <a:spcBef>
                <a:spcPts val="1200"/>
              </a:spcBef>
              <a:spcAft>
                <a:spcPts val="0"/>
              </a:spcAft>
              <a:buClr>
                <a:srgbClr val="000000"/>
              </a:buClr>
              <a:buSzPts val="1100"/>
              <a:buFont typeface="Arial"/>
              <a:buNone/>
            </a:pPr>
            <a:r>
              <a:rPr b="1" lang="en" sz="1500">
                <a:solidFill>
                  <a:srgbClr val="000000"/>
                </a:solidFill>
                <a:latin typeface="Calibri"/>
                <a:ea typeface="Calibri"/>
                <a:cs typeface="Calibri"/>
                <a:sym typeface="Calibri"/>
              </a:rPr>
              <a:t>• Structured report generation</a:t>
            </a:r>
            <a:endParaRPr b="1" sz="1500">
              <a:solidFill>
                <a:srgbClr val="000000"/>
              </a:solidFill>
              <a:latin typeface="Calibri"/>
              <a:ea typeface="Calibri"/>
              <a:cs typeface="Calibri"/>
              <a:sym typeface="Calibri"/>
            </a:endParaRPr>
          </a:p>
          <a:p>
            <a:pPr indent="0" lvl="0" marL="228600" marR="0" rtl="0" algn="l">
              <a:lnSpc>
                <a:spcPct val="105000"/>
              </a:lnSpc>
              <a:spcBef>
                <a:spcPts val="1200"/>
              </a:spcBef>
              <a:spcAft>
                <a:spcPts val="300"/>
              </a:spcAft>
              <a:buClr>
                <a:srgbClr val="000000"/>
              </a:buClr>
              <a:buSzPts val="1700"/>
              <a:buFont typeface="Arial"/>
              <a:buNone/>
            </a:pPr>
            <a:r>
              <a:t/>
            </a:r>
            <a:endParaRPr b="1" sz="1700">
              <a:solidFill>
                <a:srgbClr val="000000"/>
              </a:solidFill>
              <a:latin typeface="Calibri"/>
              <a:ea typeface="Calibri"/>
              <a:cs typeface="Calibri"/>
              <a:sym typeface="Calibri"/>
            </a:endParaRPr>
          </a:p>
        </p:txBody>
      </p:sp>
      <p:sp>
        <p:nvSpPr>
          <p:cNvPr id="144" name="Google Shape;144;p23"/>
          <p:cNvSpPr txBox="1"/>
          <p:nvPr/>
        </p:nvSpPr>
        <p:spPr>
          <a:xfrm>
            <a:off x="6961375" y="609525"/>
            <a:ext cx="1407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500000"/>
                </a:solidFill>
                <a:latin typeface="Calibri"/>
                <a:ea typeface="Calibri"/>
                <a:cs typeface="Calibri"/>
                <a:sym typeface="Calibri"/>
              </a:rPr>
              <a:t>Method</a:t>
            </a:r>
            <a:endParaRPr>
              <a:latin typeface="Calibri"/>
              <a:ea typeface="Calibri"/>
              <a:cs typeface="Calibri"/>
              <a:sym typeface="Calibri"/>
            </a:endParaRPr>
          </a:p>
        </p:txBody>
      </p:sp>
      <p:sp>
        <p:nvSpPr>
          <p:cNvPr id="145" name="Google Shape;145;p23"/>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nvSpPr>
        <p:spPr>
          <a:xfrm>
            <a:off x="113975" y="65350"/>
            <a:ext cx="6633600" cy="808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rgbClr val="500000"/>
                </a:solidFill>
                <a:latin typeface="Calibri"/>
                <a:ea typeface="Calibri"/>
                <a:cs typeface="Calibri"/>
                <a:sym typeface="Calibri"/>
              </a:rPr>
              <a:t>Components of the Multi-Agent Framework: Disaster Perception Agent</a:t>
            </a:r>
            <a:endParaRPr b="1" i="0" sz="2400" u="none" cap="none" strike="noStrike">
              <a:solidFill>
                <a:srgbClr val="500000"/>
              </a:solidFill>
              <a:latin typeface="Calibri"/>
              <a:ea typeface="Calibri"/>
              <a:cs typeface="Calibri"/>
              <a:sym typeface="Calibri"/>
            </a:endParaRPr>
          </a:p>
        </p:txBody>
      </p:sp>
      <p:pic>
        <p:nvPicPr>
          <p:cNvPr id="151" name="Google Shape;151;p24"/>
          <p:cNvPicPr preferRelativeResize="0"/>
          <p:nvPr/>
        </p:nvPicPr>
        <p:blipFill>
          <a:blip r:embed="rId3">
            <a:alphaModFix/>
          </a:blip>
          <a:stretch>
            <a:fillRect/>
          </a:stretch>
        </p:blipFill>
        <p:spPr>
          <a:xfrm>
            <a:off x="113975" y="918125"/>
            <a:ext cx="3965149" cy="3965149"/>
          </a:xfrm>
          <a:prstGeom prst="rect">
            <a:avLst/>
          </a:prstGeom>
          <a:noFill/>
          <a:ln>
            <a:noFill/>
          </a:ln>
        </p:spPr>
      </p:pic>
      <p:pic>
        <p:nvPicPr>
          <p:cNvPr id="152" name="Google Shape;152;p24"/>
          <p:cNvPicPr preferRelativeResize="0"/>
          <p:nvPr/>
        </p:nvPicPr>
        <p:blipFill>
          <a:blip r:embed="rId4">
            <a:alphaModFix/>
          </a:blip>
          <a:stretch>
            <a:fillRect/>
          </a:stretch>
        </p:blipFill>
        <p:spPr>
          <a:xfrm>
            <a:off x="4231524" y="1025950"/>
            <a:ext cx="4760077" cy="3121362"/>
          </a:xfrm>
          <a:prstGeom prst="rect">
            <a:avLst/>
          </a:prstGeom>
          <a:noFill/>
          <a:ln>
            <a:noFill/>
          </a:ln>
        </p:spPr>
      </p:pic>
      <p:sp>
        <p:nvSpPr>
          <p:cNvPr id="153" name="Google Shape;153;p24"/>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5"/>
          <p:cNvPicPr preferRelativeResize="0"/>
          <p:nvPr/>
        </p:nvPicPr>
        <p:blipFill>
          <a:blip r:embed="rId3">
            <a:alphaModFix/>
          </a:blip>
          <a:stretch>
            <a:fillRect/>
          </a:stretch>
        </p:blipFill>
        <p:spPr>
          <a:xfrm>
            <a:off x="109625" y="826075"/>
            <a:ext cx="8839199" cy="3919993"/>
          </a:xfrm>
          <a:prstGeom prst="rect">
            <a:avLst/>
          </a:prstGeom>
          <a:noFill/>
          <a:ln>
            <a:noFill/>
          </a:ln>
        </p:spPr>
      </p:pic>
      <p:sp>
        <p:nvSpPr>
          <p:cNvPr id="159" name="Google Shape;159;p25"/>
          <p:cNvSpPr txBox="1"/>
          <p:nvPr/>
        </p:nvSpPr>
        <p:spPr>
          <a:xfrm>
            <a:off x="113975" y="65350"/>
            <a:ext cx="6633600" cy="808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rgbClr val="500000"/>
                </a:solidFill>
                <a:latin typeface="Calibri"/>
                <a:ea typeface="Calibri"/>
                <a:cs typeface="Calibri"/>
                <a:sym typeface="Calibri"/>
              </a:rPr>
              <a:t>Components of the Multi-Agent Framework: Disaster Perception Agent</a:t>
            </a:r>
            <a:endParaRPr b="1" i="0" sz="2400" u="none" cap="none" strike="noStrike">
              <a:solidFill>
                <a:srgbClr val="500000"/>
              </a:solidFill>
              <a:latin typeface="Calibri"/>
              <a:ea typeface="Calibri"/>
              <a:cs typeface="Calibri"/>
              <a:sym typeface="Calibri"/>
            </a:endParaRPr>
          </a:p>
        </p:txBody>
      </p:sp>
      <p:sp>
        <p:nvSpPr>
          <p:cNvPr id="160" name="Google Shape;160;p25"/>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6"/>
          <p:cNvPicPr preferRelativeResize="0"/>
          <p:nvPr/>
        </p:nvPicPr>
        <p:blipFill>
          <a:blip r:embed="rId3">
            <a:alphaModFix/>
          </a:blip>
          <a:stretch>
            <a:fillRect/>
          </a:stretch>
        </p:blipFill>
        <p:spPr>
          <a:xfrm>
            <a:off x="5939175" y="3956550"/>
            <a:ext cx="837201" cy="837201"/>
          </a:xfrm>
          <a:prstGeom prst="rect">
            <a:avLst/>
          </a:prstGeom>
          <a:noFill/>
          <a:ln>
            <a:noFill/>
          </a:ln>
        </p:spPr>
      </p:pic>
      <p:pic>
        <p:nvPicPr>
          <p:cNvPr id="166" name="Google Shape;166;p26"/>
          <p:cNvPicPr preferRelativeResize="0"/>
          <p:nvPr/>
        </p:nvPicPr>
        <p:blipFill>
          <a:blip r:embed="rId4">
            <a:alphaModFix/>
          </a:blip>
          <a:stretch>
            <a:fillRect/>
          </a:stretch>
        </p:blipFill>
        <p:spPr>
          <a:xfrm>
            <a:off x="4051525" y="858400"/>
            <a:ext cx="4921999" cy="3098150"/>
          </a:xfrm>
          <a:prstGeom prst="rect">
            <a:avLst/>
          </a:prstGeom>
          <a:noFill/>
          <a:ln>
            <a:noFill/>
          </a:ln>
        </p:spPr>
      </p:pic>
      <p:pic>
        <p:nvPicPr>
          <p:cNvPr id="167" name="Google Shape;167;p26"/>
          <p:cNvPicPr preferRelativeResize="0"/>
          <p:nvPr/>
        </p:nvPicPr>
        <p:blipFill>
          <a:blip r:embed="rId5">
            <a:alphaModFix/>
          </a:blip>
          <a:stretch>
            <a:fillRect/>
          </a:stretch>
        </p:blipFill>
        <p:spPr>
          <a:xfrm>
            <a:off x="248625" y="1013375"/>
            <a:ext cx="3589025" cy="3915300"/>
          </a:xfrm>
          <a:prstGeom prst="rect">
            <a:avLst/>
          </a:prstGeom>
          <a:noFill/>
          <a:ln>
            <a:noFill/>
          </a:ln>
        </p:spPr>
      </p:pic>
      <p:sp>
        <p:nvSpPr>
          <p:cNvPr id="168" name="Google Shape;168;p26"/>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Components of the Multi-Agent Framework: Image Restoration Agent</a:t>
            </a:r>
            <a:endParaRPr>
              <a:latin typeface="Calibri"/>
              <a:ea typeface="Calibri"/>
              <a:cs typeface="Calibri"/>
              <a:sym typeface="Calibri"/>
            </a:endParaRPr>
          </a:p>
        </p:txBody>
      </p:sp>
      <p:sp>
        <p:nvSpPr>
          <p:cNvPr id="169" name="Google Shape;169;p26"/>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7"/>
          <p:cNvPicPr preferRelativeResize="0"/>
          <p:nvPr/>
        </p:nvPicPr>
        <p:blipFill>
          <a:blip r:embed="rId3">
            <a:alphaModFix/>
          </a:blip>
          <a:stretch>
            <a:fillRect/>
          </a:stretch>
        </p:blipFill>
        <p:spPr>
          <a:xfrm>
            <a:off x="152400" y="847475"/>
            <a:ext cx="8839204" cy="2399706"/>
          </a:xfrm>
          <a:prstGeom prst="rect">
            <a:avLst/>
          </a:prstGeom>
          <a:noFill/>
          <a:ln>
            <a:noFill/>
          </a:ln>
        </p:spPr>
      </p:pic>
      <p:sp>
        <p:nvSpPr>
          <p:cNvPr id="175" name="Google Shape;175;p27"/>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Components of the Multi-Agent Framework: Image Restoration Agent</a:t>
            </a:r>
            <a:endParaRPr>
              <a:latin typeface="Calibri"/>
              <a:ea typeface="Calibri"/>
              <a:cs typeface="Calibri"/>
              <a:sym typeface="Calibri"/>
            </a:endParaRPr>
          </a:p>
        </p:txBody>
      </p:sp>
      <p:pic>
        <p:nvPicPr>
          <p:cNvPr id="176" name="Google Shape;176;p27"/>
          <p:cNvPicPr preferRelativeResize="0"/>
          <p:nvPr/>
        </p:nvPicPr>
        <p:blipFill>
          <a:blip r:embed="rId4">
            <a:alphaModFix/>
          </a:blip>
          <a:stretch>
            <a:fillRect/>
          </a:stretch>
        </p:blipFill>
        <p:spPr>
          <a:xfrm>
            <a:off x="690000" y="3247163"/>
            <a:ext cx="3266775" cy="1636275"/>
          </a:xfrm>
          <a:prstGeom prst="rect">
            <a:avLst/>
          </a:prstGeom>
          <a:noFill/>
          <a:ln>
            <a:noFill/>
          </a:ln>
        </p:spPr>
      </p:pic>
      <p:pic>
        <p:nvPicPr>
          <p:cNvPr id="177" name="Google Shape;177;p27"/>
          <p:cNvPicPr preferRelativeResize="0"/>
          <p:nvPr/>
        </p:nvPicPr>
        <p:blipFill>
          <a:blip r:embed="rId5">
            <a:alphaModFix/>
          </a:blip>
          <a:stretch>
            <a:fillRect/>
          </a:stretch>
        </p:blipFill>
        <p:spPr>
          <a:xfrm>
            <a:off x="4714125" y="3152700"/>
            <a:ext cx="3482950" cy="1825200"/>
          </a:xfrm>
          <a:prstGeom prst="rect">
            <a:avLst/>
          </a:prstGeom>
          <a:noFill/>
          <a:ln>
            <a:noFill/>
          </a:ln>
        </p:spPr>
      </p:pic>
      <p:cxnSp>
        <p:nvCxnSpPr>
          <p:cNvPr id="178" name="Google Shape;178;p27"/>
          <p:cNvCxnSpPr/>
          <p:nvPr/>
        </p:nvCxnSpPr>
        <p:spPr>
          <a:xfrm>
            <a:off x="4098900" y="3972400"/>
            <a:ext cx="473100" cy="0"/>
          </a:xfrm>
          <a:prstGeom prst="straightConnector1">
            <a:avLst/>
          </a:prstGeom>
          <a:noFill/>
          <a:ln cap="flat" cmpd="sng" w="9525">
            <a:solidFill>
              <a:srgbClr val="500000"/>
            </a:solidFill>
            <a:prstDash val="solid"/>
            <a:round/>
            <a:headEnd len="med" w="med" type="none"/>
            <a:tailEnd len="med" w="med" type="triangle"/>
          </a:ln>
        </p:spPr>
      </p:cxnSp>
      <p:sp>
        <p:nvSpPr>
          <p:cNvPr id="179" name="Google Shape;179;p27"/>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Components of the Multi-Agent Framework: Damage Recognition Agent</a:t>
            </a:r>
            <a:endParaRPr>
              <a:latin typeface="Calibri"/>
              <a:ea typeface="Calibri"/>
              <a:cs typeface="Calibri"/>
              <a:sym typeface="Calibri"/>
            </a:endParaRPr>
          </a:p>
        </p:txBody>
      </p:sp>
      <p:pic>
        <p:nvPicPr>
          <p:cNvPr id="185" name="Google Shape;185;p28"/>
          <p:cNvPicPr preferRelativeResize="0"/>
          <p:nvPr/>
        </p:nvPicPr>
        <p:blipFill>
          <a:blip r:embed="rId3">
            <a:alphaModFix/>
          </a:blip>
          <a:stretch>
            <a:fillRect/>
          </a:stretch>
        </p:blipFill>
        <p:spPr>
          <a:xfrm>
            <a:off x="4142600" y="923400"/>
            <a:ext cx="4786505" cy="3915299"/>
          </a:xfrm>
          <a:prstGeom prst="rect">
            <a:avLst/>
          </a:prstGeom>
          <a:noFill/>
          <a:ln>
            <a:noFill/>
          </a:ln>
        </p:spPr>
      </p:pic>
      <p:sp>
        <p:nvSpPr>
          <p:cNvPr id="186" name="Google Shape;186;p28"/>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pic>
        <p:nvPicPr>
          <p:cNvPr id="187" name="Google Shape;187;p28"/>
          <p:cNvPicPr preferRelativeResize="0"/>
          <p:nvPr/>
        </p:nvPicPr>
        <p:blipFill>
          <a:blip r:embed="rId4">
            <a:alphaModFix/>
          </a:blip>
          <a:stretch>
            <a:fillRect/>
          </a:stretch>
        </p:blipFill>
        <p:spPr>
          <a:xfrm>
            <a:off x="131000" y="1315963"/>
            <a:ext cx="3761349" cy="1955527"/>
          </a:xfrm>
          <a:prstGeom prst="rect">
            <a:avLst/>
          </a:prstGeom>
          <a:noFill/>
          <a:ln>
            <a:noFill/>
          </a:ln>
        </p:spPr>
      </p:pic>
      <p:pic>
        <p:nvPicPr>
          <p:cNvPr id="188" name="Google Shape;188;p28"/>
          <p:cNvPicPr preferRelativeResize="0"/>
          <p:nvPr/>
        </p:nvPicPr>
        <p:blipFill rotWithShape="1">
          <a:blip r:embed="rId5">
            <a:alphaModFix/>
          </a:blip>
          <a:srcRect b="0" l="0" r="0" t="0"/>
          <a:stretch/>
        </p:blipFill>
        <p:spPr>
          <a:xfrm>
            <a:off x="1415075" y="3483000"/>
            <a:ext cx="1093676" cy="10936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Components of the Multi-Agent Framework: Damage Recognition Agent</a:t>
            </a:r>
            <a:endParaRPr>
              <a:latin typeface="Calibri"/>
              <a:ea typeface="Calibri"/>
              <a:cs typeface="Calibri"/>
              <a:sym typeface="Calibri"/>
            </a:endParaRPr>
          </a:p>
        </p:txBody>
      </p:sp>
      <p:pic>
        <p:nvPicPr>
          <p:cNvPr id="194" name="Google Shape;194;p29"/>
          <p:cNvPicPr preferRelativeResize="0"/>
          <p:nvPr/>
        </p:nvPicPr>
        <p:blipFill>
          <a:blip r:embed="rId3">
            <a:alphaModFix/>
          </a:blip>
          <a:stretch>
            <a:fillRect/>
          </a:stretch>
        </p:blipFill>
        <p:spPr>
          <a:xfrm>
            <a:off x="152400" y="1011650"/>
            <a:ext cx="8839201" cy="3908693"/>
          </a:xfrm>
          <a:prstGeom prst="rect">
            <a:avLst/>
          </a:prstGeom>
          <a:noFill/>
          <a:ln>
            <a:noFill/>
          </a:ln>
        </p:spPr>
      </p:pic>
      <p:sp>
        <p:nvSpPr>
          <p:cNvPr id="195" name="Google Shape;195;p29"/>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Components of the Multi-Agent Framework: Damage Recognition Agent</a:t>
            </a:r>
            <a:endParaRPr>
              <a:latin typeface="Calibri"/>
              <a:ea typeface="Calibri"/>
              <a:cs typeface="Calibri"/>
              <a:sym typeface="Calibri"/>
            </a:endParaRPr>
          </a:p>
        </p:txBody>
      </p:sp>
      <p:pic>
        <p:nvPicPr>
          <p:cNvPr id="201" name="Google Shape;201;p30"/>
          <p:cNvPicPr preferRelativeResize="0"/>
          <p:nvPr/>
        </p:nvPicPr>
        <p:blipFill>
          <a:blip r:embed="rId3">
            <a:alphaModFix/>
          </a:blip>
          <a:stretch>
            <a:fillRect/>
          </a:stretch>
        </p:blipFill>
        <p:spPr>
          <a:xfrm>
            <a:off x="152400" y="923400"/>
            <a:ext cx="8839197" cy="3788227"/>
          </a:xfrm>
          <a:prstGeom prst="rect">
            <a:avLst/>
          </a:prstGeom>
          <a:noFill/>
          <a:ln>
            <a:noFill/>
          </a:ln>
        </p:spPr>
      </p:pic>
      <p:sp>
        <p:nvSpPr>
          <p:cNvPr id="202" name="Google Shape;202;p30"/>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Components of the Multi-Agent Framework: Disaster Reasoning Agent</a:t>
            </a:r>
            <a:endParaRPr>
              <a:latin typeface="Calibri"/>
              <a:ea typeface="Calibri"/>
              <a:cs typeface="Calibri"/>
              <a:sym typeface="Calibri"/>
            </a:endParaRPr>
          </a:p>
        </p:txBody>
      </p:sp>
      <p:pic>
        <p:nvPicPr>
          <p:cNvPr id="208" name="Google Shape;208;p31"/>
          <p:cNvPicPr preferRelativeResize="0"/>
          <p:nvPr/>
        </p:nvPicPr>
        <p:blipFill>
          <a:blip r:embed="rId3">
            <a:alphaModFix/>
          </a:blip>
          <a:stretch>
            <a:fillRect/>
          </a:stretch>
        </p:blipFill>
        <p:spPr>
          <a:xfrm>
            <a:off x="513925" y="1024900"/>
            <a:ext cx="3509375" cy="3509375"/>
          </a:xfrm>
          <a:prstGeom prst="rect">
            <a:avLst/>
          </a:prstGeom>
          <a:noFill/>
          <a:ln>
            <a:noFill/>
          </a:ln>
        </p:spPr>
      </p:pic>
      <p:pic>
        <p:nvPicPr>
          <p:cNvPr id="209" name="Google Shape;209;p31"/>
          <p:cNvPicPr preferRelativeResize="0"/>
          <p:nvPr/>
        </p:nvPicPr>
        <p:blipFill>
          <a:blip r:embed="rId4">
            <a:alphaModFix/>
          </a:blip>
          <a:stretch>
            <a:fillRect/>
          </a:stretch>
        </p:blipFill>
        <p:spPr>
          <a:xfrm>
            <a:off x="4154325" y="535114"/>
            <a:ext cx="4026100" cy="4488950"/>
          </a:xfrm>
          <a:prstGeom prst="rect">
            <a:avLst/>
          </a:prstGeom>
          <a:noFill/>
          <a:ln>
            <a:noFill/>
          </a:ln>
        </p:spPr>
      </p:pic>
      <p:sp>
        <p:nvSpPr>
          <p:cNvPr id="210" name="Google Shape;210;p31"/>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216" name="Google Shape;216;p32"/>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Components of the Multi-Agent Framework: Disaster Reasoning Agent</a:t>
            </a:r>
            <a:endParaRPr>
              <a:latin typeface="Calibri"/>
              <a:ea typeface="Calibri"/>
              <a:cs typeface="Calibri"/>
              <a:sym typeface="Calibri"/>
            </a:endParaRPr>
          </a:p>
        </p:txBody>
      </p:sp>
      <p:pic>
        <p:nvPicPr>
          <p:cNvPr id="217" name="Google Shape;217;p32"/>
          <p:cNvPicPr preferRelativeResize="0"/>
          <p:nvPr/>
        </p:nvPicPr>
        <p:blipFill>
          <a:blip r:embed="rId3">
            <a:alphaModFix/>
          </a:blip>
          <a:stretch>
            <a:fillRect/>
          </a:stretch>
        </p:blipFill>
        <p:spPr>
          <a:xfrm>
            <a:off x="505300" y="869950"/>
            <a:ext cx="7899174" cy="40997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graphicFrame>
        <p:nvGraphicFramePr>
          <p:cNvPr id="222" name="Google Shape;222;p33"/>
          <p:cNvGraphicFramePr/>
          <p:nvPr/>
        </p:nvGraphicFramePr>
        <p:xfrm>
          <a:off x="195850" y="528800"/>
          <a:ext cx="3000000" cy="3000000"/>
        </p:xfrm>
        <a:graphic>
          <a:graphicData uri="http://schemas.openxmlformats.org/drawingml/2006/table">
            <a:tbl>
              <a:tblPr>
                <a:noFill/>
                <a:tableStyleId>{3F5E54DF-BC82-4503-8B97-78EC7423D456}</a:tableStyleId>
              </a:tblPr>
              <a:tblGrid>
                <a:gridCol w="2861900"/>
                <a:gridCol w="1414675"/>
                <a:gridCol w="1414675"/>
                <a:gridCol w="1414675"/>
                <a:gridCol w="1414675"/>
              </a:tblGrid>
              <a:tr h="335950">
                <a:tc>
                  <a:txBody>
                    <a:bodyPr/>
                    <a:lstStyle/>
                    <a:p>
                      <a:pPr indent="0" lvl="0" marL="0" rtl="0" algn="l">
                        <a:spcBef>
                          <a:spcPts val="0"/>
                        </a:spcBef>
                        <a:spcAft>
                          <a:spcPts val="0"/>
                        </a:spcAft>
                        <a:buNone/>
                      </a:pPr>
                      <a:r>
                        <a:rPr b="1" lang="en" sz="900">
                          <a:latin typeface="Times New Roman"/>
                          <a:ea typeface="Times New Roman"/>
                          <a:cs typeface="Times New Roman"/>
                          <a:sym typeface="Times New Roman"/>
                        </a:rPr>
                        <a:t>Input Images</a:t>
                      </a:r>
                      <a:endParaRPr b="1"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latin typeface="Times New Roman"/>
                          <a:ea typeface="Times New Roman"/>
                          <a:cs typeface="Times New Roman"/>
                          <a:sym typeface="Times New Roman"/>
                        </a:rPr>
                        <a:t>Model Responses</a:t>
                      </a:r>
                      <a:endParaRPr b="1"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latin typeface="Times New Roman"/>
                          <a:ea typeface="Times New Roman"/>
                          <a:cs typeface="Times New Roman"/>
                          <a:sym typeface="Times New Roman"/>
                        </a:rPr>
                        <a:t>Gemini-3-Pro</a:t>
                      </a:r>
                      <a:endParaRPr b="1"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dk1"/>
                          </a:solidFill>
                          <a:latin typeface="Times New Roman"/>
                          <a:ea typeface="Times New Roman"/>
                          <a:cs typeface="Times New Roman"/>
                          <a:sym typeface="Times New Roman"/>
                        </a:rPr>
                        <a:t>Gemini-2.5-Pro</a:t>
                      </a:r>
                      <a:endParaRPr b="1"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dk1"/>
                          </a:solidFill>
                          <a:latin typeface="Times New Roman"/>
                          <a:ea typeface="Times New Roman"/>
                          <a:cs typeface="Times New Roman"/>
                          <a:sym typeface="Times New Roman"/>
                        </a:rPr>
                        <a:t>ChatGPT-5.1</a:t>
                      </a:r>
                      <a:endParaRPr b="1"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825">
                <a:tc rowSpan="6">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Type of disaster</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hurricane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hurricane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hurricane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25">
                <a:tc vMerge="1"/>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Image restoration</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No</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No</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No</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050">
                <a:tc vMerge="1"/>
                <a:tc>
                  <a:txBody>
                    <a:bodyPr/>
                    <a:lstStyle/>
                    <a:p>
                      <a:pPr indent="0" lvl="0" marL="0" rtl="0" algn="l">
                        <a:spcBef>
                          <a:spcPts val="0"/>
                        </a:spcBef>
                        <a:spcAft>
                          <a:spcPts val="0"/>
                        </a:spcAft>
                        <a:buNone/>
                      </a:pPr>
                      <a:r>
                        <a:rPr lang="en" sz="900">
                          <a:solidFill>
                            <a:schemeClr val="dk1"/>
                          </a:solidFill>
                          <a:latin typeface="Times New Roman"/>
                          <a:ea typeface="Times New Roman"/>
                          <a:cs typeface="Times New Roman"/>
                          <a:sym typeface="Times New Roman"/>
                        </a:rPr>
                        <a:t>Disaster severity classification</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Severe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chemeClr val="dk1"/>
                          </a:solidFill>
                          <a:latin typeface="Times New Roman"/>
                          <a:ea typeface="Times New Roman"/>
                          <a:cs typeface="Times New Roman"/>
                          <a:sym typeface="Times New Roman"/>
                        </a:rPr>
                        <a:t>Severe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severe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25">
                <a:tc vMerge="1"/>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Voted candidate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SVI and RSI</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SVI and RSI</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SVI and RSI</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900">
                <a:tc vMerge="1"/>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Confidence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0.85</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0.95</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0.96</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050">
                <a:tc vMerge="1"/>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Object recognition</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Debris, Fallen Tree</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Debris, Fallen Tree, Damaged Building</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Debris, Fallen Tree, Damaged Building</a:t>
                      </a:r>
                      <a:endParaRPr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27875">
                <a:tc rowSpan="2">
                  <a:txBody>
                    <a:bodyPr/>
                    <a:lstStyle/>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b="1"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       </a:t>
                      </a:r>
                      <a:r>
                        <a:rPr b="1" lang="en" sz="900">
                          <a:solidFill>
                            <a:srgbClr val="500000"/>
                          </a:solidFill>
                          <a:latin typeface="Times New Roman"/>
                          <a:ea typeface="Times New Roman"/>
                          <a:cs typeface="Times New Roman"/>
                          <a:sym typeface="Times New Roman"/>
                        </a:rPr>
                        <a:t>   Using Gemini-3-Pro for object recognition</a:t>
                      </a:r>
                      <a:endParaRPr sz="900">
                        <a:solidFill>
                          <a:srgbClr val="500000"/>
                        </a:solidFill>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4">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The Street View Image reveals massive piles of debris (furniture, appliances, drywall) lining the road, indicating that the adjacent homes were gutted by storm surge, which constitutes 'significant building debris' and major economic destruction. While the roads are not currently 'fully flooded' (they are covered in surge sand) and trees are mostly standing (though stripped), the sheer volume of property loss and the saturated ground visible in the Remote Sensing image align the overall impact with the 'Severe' classification. </a:t>
                      </a:r>
                      <a:r>
                        <a:rPr b="1" lang="en" sz="900">
                          <a:solidFill>
                            <a:schemeClr val="dk1"/>
                          </a:solidFill>
                          <a:latin typeface="Times New Roman"/>
                          <a:ea typeface="Times New Roman"/>
                          <a:cs typeface="Times New Roman"/>
                          <a:sym typeface="Times New Roman"/>
                        </a:rPr>
                        <a:t>Reasoning for Gemini-3-Pro-Disaster Assessment </a:t>
                      </a:r>
                      <a:endParaRPr b="1"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r>
              <a:tr h="1053725">
                <a:tc vMerge="1"/>
                <a:tc gridSpan="4">
                  <a:txBody>
                    <a:bodyPr/>
                    <a:lstStyle/>
                    <a:p>
                      <a:pPr indent="0" lvl="0" marL="0" rtl="0" algn="l">
                        <a:spcBef>
                          <a:spcPts val="0"/>
                        </a:spcBef>
                        <a:spcAft>
                          <a:spcPts val="0"/>
                        </a:spcAft>
                        <a:buClr>
                          <a:schemeClr val="dk1"/>
                        </a:buClr>
                        <a:buSzPts val="1100"/>
                        <a:buFont typeface="Arial"/>
                        <a:buNone/>
                      </a:pPr>
                      <a:r>
                        <a:rPr lang="en" sz="900">
                          <a:latin typeface="Times New Roman"/>
                          <a:ea typeface="Times New Roman"/>
                          <a:cs typeface="Times New Roman"/>
                          <a:sym typeface="Times New Roman"/>
                        </a:rPr>
                        <a:t>Recovery efforts must prioritize the rapid removal of the substantial debris (furniture, appliances, drywall) currently lining the streets to fully restore logistical access. Given that homes were 'gutted' by storm surge, reconstruction requires rigorous structural inspections and professional mold remediation before habitation is permitted. Infrastructure teams should focus on clearing surge sand from roadways and assessing subsurface utility stability due to the 'saturated ground.' Long-term planning should enforce elevated construction standards to mitigate future surge risks. </a:t>
                      </a:r>
                      <a:r>
                        <a:rPr b="1" lang="en" sz="900">
                          <a:solidFill>
                            <a:schemeClr val="dk1"/>
                          </a:solidFill>
                          <a:latin typeface="Times New Roman"/>
                          <a:ea typeface="Times New Roman"/>
                          <a:cs typeface="Times New Roman"/>
                          <a:sym typeface="Times New Roman"/>
                        </a:rPr>
                        <a:t>Reasoning for Gemini-3-Pro-Disaster Recovery / Reconstruction Suggestion</a:t>
                      </a:r>
                      <a:endParaRPr b="1" sz="9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r>
            </a:tbl>
          </a:graphicData>
        </a:graphic>
      </p:graphicFrame>
      <p:pic>
        <p:nvPicPr>
          <p:cNvPr id="223" name="Google Shape;223;p33" title="165718466200703_Satellite.png"/>
          <p:cNvPicPr preferRelativeResize="0"/>
          <p:nvPr/>
        </p:nvPicPr>
        <p:blipFill rotWithShape="1">
          <a:blip r:embed="rId3">
            <a:alphaModFix/>
          </a:blip>
          <a:srcRect b="28011" l="0" r="30872" t="0"/>
          <a:stretch/>
        </p:blipFill>
        <p:spPr>
          <a:xfrm>
            <a:off x="1010438" y="929997"/>
            <a:ext cx="1146900" cy="1194324"/>
          </a:xfrm>
          <a:prstGeom prst="rect">
            <a:avLst/>
          </a:prstGeom>
          <a:noFill/>
          <a:ln>
            <a:noFill/>
          </a:ln>
        </p:spPr>
      </p:pic>
      <p:pic>
        <p:nvPicPr>
          <p:cNvPr id="224" name="Google Shape;224;p33" title="165718466200703_SVI.png"/>
          <p:cNvPicPr preferRelativeResize="0"/>
          <p:nvPr/>
        </p:nvPicPr>
        <p:blipFill>
          <a:blip r:embed="rId4">
            <a:alphaModFix/>
          </a:blip>
          <a:stretch>
            <a:fillRect/>
          </a:stretch>
        </p:blipFill>
        <p:spPr>
          <a:xfrm>
            <a:off x="732449" y="2193625"/>
            <a:ext cx="1702876" cy="851450"/>
          </a:xfrm>
          <a:prstGeom prst="rect">
            <a:avLst/>
          </a:prstGeom>
          <a:noFill/>
          <a:ln>
            <a:noFill/>
          </a:ln>
        </p:spPr>
      </p:pic>
      <p:pic>
        <p:nvPicPr>
          <p:cNvPr id="225" name="Google Shape;225;p33" title="gemini-3-pro.png"/>
          <p:cNvPicPr preferRelativeResize="0"/>
          <p:nvPr/>
        </p:nvPicPr>
        <p:blipFill>
          <a:blip r:embed="rId5">
            <a:alphaModFix/>
          </a:blip>
          <a:stretch>
            <a:fillRect/>
          </a:stretch>
        </p:blipFill>
        <p:spPr>
          <a:xfrm>
            <a:off x="421400" y="3351675"/>
            <a:ext cx="2388628" cy="1194324"/>
          </a:xfrm>
          <a:prstGeom prst="rect">
            <a:avLst/>
          </a:prstGeom>
          <a:noFill/>
          <a:ln>
            <a:noFill/>
          </a:ln>
        </p:spPr>
      </p:pic>
      <p:sp>
        <p:nvSpPr>
          <p:cNvPr id="226" name="Google Shape;226;p33"/>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227" name="Google Shape;227;p33"/>
          <p:cNvSpPr txBox="1"/>
          <p:nvPr/>
        </p:nvSpPr>
        <p:spPr>
          <a:xfrm>
            <a:off x="0" y="0"/>
            <a:ext cx="656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500000"/>
                </a:solidFill>
                <a:latin typeface="Calibri"/>
                <a:ea typeface="Calibri"/>
                <a:cs typeface="Calibri"/>
                <a:sym typeface="Calibri"/>
              </a:rPr>
              <a:t>Final output from the disaster-reasoning agent</a:t>
            </a: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txBox="1"/>
          <p:nvPr/>
        </p:nvSpPr>
        <p:spPr>
          <a:xfrm>
            <a:off x="0" y="0"/>
            <a:ext cx="6563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500000"/>
                </a:solidFill>
                <a:latin typeface="Calibri"/>
                <a:ea typeface="Calibri"/>
                <a:cs typeface="Calibri"/>
                <a:sym typeface="Calibri"/>
              </a:rPr>
              <a:t>Takeaways</a:t>
            </a:r>
            <a:endParaRPr b="1" sz="2400">
              <a:solidFill>
                <a:srgbClr val="500000"/>
              </a:solidFill>
              <a:latin typeface="Calibri"/>
              <a:ea typeface="Calibri"/>
              <a:cs typeface="Calibri"/>
              <a:sym typeface="Calibri"/>
            </a:endParaRPr>
          </a:p>
        </p:txBody>
      </p:sp>
      <p:sp>
        <p:nvSpPr>
          <p:cNvPr id="233" name="Google Shape;233;p34"/>
          <p:cNvSpPr txBox="1"/>
          <p:nvPr/>
        </p:nvSpPr>
        <p:spPr>
          <a:xfrm>
            <a:off x="2787325" y="3281475"/>
            <a:ext cx="6178200" cy="12429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chemeClr val="dk1"/>
              </a:buClr>
              <a:buSzPts val="1100"/>
              <a:buFont typeface="Arial"/>
              <a:buNone/>
            </a:pPr>
            <a:r>
              <a:rPr lang="en" sz="900">
                <a:solidFill>
                  <a:schemeClr val="dk1"/>
                </a:solidFill>
                <a:latin typeface="Calibri"/>
                <a:ea typeface="Calibri"/>
                <a:cs typeface="Calibri"/>
                <a:sym typeface="Calibri"/>
              </a:rPr>
              <a:t>Yifan Yang, Wenjing Gong, Kaili Zhang, Lei Zou, Zhengzhong Tu, Hao Li, Zongrong Li, and Xinyue Ye. 2026. RAPID: A Reproducible Multi-Agent Pipeline for Interpretable Disaster Damage Assessment from Satellite and Street-View Imagery. In </a:t>
            </a:r>
            <a:r>
              <a:rPr i="1" lang="en" sz="900">
                <a:solidFill>
                  <a:schemeClr val="dk1"/>
                </a:solidFill>
                <a:latin typeface="Calibri"/>
                <a:ea typeface="Calibri"/>
                <a:cs typeface="Calibri"/>
                <a:sym typeface="Calibri"/>
              </a:rPr>
              <a:t>The 34th ACM International Conference on Advances in Geographic Information Systems (SIGSPATIAL ’26)</a:t>
            </a:r>
            <a:r>
              <a:rPr lang="en" sz="900">
                <a:solidFill>
                  <a:schemeClr val="dk1"/>
                </a:solidFill>
                <a:latin typeface="Calibri"/>
                <a:ea typeface="Calibri"/>
                <a:cs typeface="Calibri"/>
                <a:sym typeface="Calibri"/>
              </a:rPr>
              <a:t>, November 03–06, 2026, Riverside, CA, USA. ACM, New York, NY, USA, 12 pages.</a:t>
            </a:r>
            <a:r>
              <a:rPr lang="en" sz="9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900" u="sng">
                <a:solidFill>
                  <a:schemeClr val="hlink"/>
                </a:solidFill>
                <a:latin typeface="Calibri"/>
                <a:ea typeface="Calibri"/>
                <a:cs typeface="Calibri"/>
                <a:sym typeface="Calibri"/>
                <a:hlinkClick r:id="rId4"/>
              </a:rPr>
              <a:t>https://doi.org/10.1145/3841645.3843346</a:t>
            </a:r>
            <a:endParaRPr sz="900" u="sng">
              <a:solidFill>
                <a:schemeClr val="hlink"/>
              </a:solidFill>
              <a:latin typeface="Calibri"/>
              <a:ea typeface="Calibri"/>
              <a:cs typeface="Calibri"/>
              <a:sym typeface="Calibri"/>
            </a:endParaRPr>
          </a:p>
          <a:p>
            <a:pPr indent="0" lvl="0" marL="0" rtl="0" algn="just">
              <a:spcBef>
                <a:spcPts val="1200"/>
              </a:spcBef>
              <a:spcAft>
                <a:spcPts val="0"/>
              </a:spcAft>
              <a:buNone/>
            </a:pPr>
            <a:r>
              <a:t/>
            </a:r>
            <a:endParaRPr sz="700">
              <a:solidFill>
                <a:srgbClr val="222222"/>
              </a:solidFill>
              <a:highlight>
                <a:srgbClr val="FFFFFF"/>
              </a:highlight>
              <a:latin typeface="Calibri"/>
              <a:ea typeface="Calibri"/>
              <a:cs typeface="Calibri"/>
              <a:sym typeface="Calibri"/>
            </a:endParaRPr>
          </a:p>
        </p:txBody>
      </p:sp>
      <p:pic>
        <p:nvPicPr>
          <p:cNvPr id="234" name="Google Shape;234;p34"/>
          <p:cNvPicPr preferRelativeResize="0"/>
          <p:nvPr/>
        </p:nvPicPr>
        <p:blipFill>
          <a:blip r:embed="rId5">
            <a:alphaModFix/>
          </a:blip>
          <a:stretch>
            <a:fillRect/>
          </a:stretch>
        </p:blipFill>
        <p:spPr>
          <a:xfrm>
            <a:off x="546950" y="3326850"/>
            <a:ext cx="1752125" cy="1752125"/>
          </a:xfrm>
          <a:prstGeom prst="rect">
            <a:avLst/>
          </a:prstGeom>
          <a:noFill/>
          <a:ln>
            <a:noFill/>
          </a:ln>
        </p:spPr>
      </p:pic>
      <p:sp>
        <p:nvSpPr>
          <p:cNvPr id="235" name="Google Shape;235;p34"/>
          <p:cNvSpPr txBox="1"/>
          <p:nvPr/>
        </p:nvSpPr>
        <p:spPr>
          <a:xfrm>
            <a:off x="354300" y="585000"/>
            <a:ext cx="67818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 </a:t>
            </a:r>
            <a:r>
              <a:rPr lang="en">
                <a:latin typeface="Calibri"/>
                <a:ea typeface="Calibri"/>
                <a:cs typeface="Calibri"/>
                <a:sym typeface="Calibri"/>
              </a:rPr>
              <a:t>A zero-shot multi-agent pipeline capable of transforming satellite and street-view imagery into traceable attribute information ready for mapping, while also providing corresponding textual descriptions for each location.</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
                <a:latin typeface="Calibri"/>
                <a:ea typeface="Calibri"/>
                <a:cs typeface="Calibri"/>
                <a:sym typeface="Calibri"/>
              </a:rPr>
              <a:t>- Severity and confidence are not yet map-grade: severity accuracy stays at 0.38–0.63, self-reported confidences are uncalibrated, and LLM judges rate reports higher than human reviewers do.</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
                <a:latin typeface="Calibri"/>
                <a:ea typeface="Calibri"/>
                <a:cs typeface="Calibri"/>
                <a:sym typeface="Calibri"/>
              </a:rPr>
              <a:t>- </a:t>
            </a:r>
            <a:r>
              <a:rPr lang="en">
                <a:latin typeface="Calibri"/>
                <a:ea typeface="Calibri"/>
                <a:cs typeface="Calibri"/>
                <a:sym typeface="Calibri"/>
              </a:rPr>
              <a:t>Disaster mapping with agents should be interactive, not one-shot. The agent proposes, explains, and revises; the cartographer questions, corrects, and decides what reaches the map.</a:t>
            </a:r>
            <a:endParaRPr>
              <a:latin typeface="Calibri"/>
              <a:ea typeface="Calibri"/>
              <a:cs typeface="Calibri"/>
              <a:sym typeface="Calibri"/>
            </a:endParaRPr>
          </a:p>
        </p:txBody>
      </p:sp>
      <p:sp>
        <p:nvSpPr>
          <p:cNvPr id="236" name="Google Shape;236;p34"/>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pic>
        <p:nvPicPr>
          <p:cNvPr id="237" name="Google Shape;237;p34" title="RAPID_github_qr.png"/>
          <p:cNvPicPr preferRelativeResize="0"/>
          <p:nvPr/>
        </p:nvPicPr>
        <p:blipFill>
          <a:blip r:embed="rId6">
            <a:alphaModFix/>
          </a:blip>
          <a:stretch>
            <a:fillRect/>
          </a:stretch>
        </p:blipFill>
        <p:spPr>
          <a:xfrm>
            <a:off x="7313775" y="1154400"/>
            <a:ext cx="1603056" cy="160305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35"/>
          <p:cNvPicPr preferRelativeResize="0"/>
          <p:nvPr/>
        </p:nvPicPr>
        <p:blipFill>
          <a:blip r:embed="rId3">
            <a:alphaModFix/>
          </a:blip>
          <a:stretch>
            <a:fillRect/>
          </a:stretch>
        </p:blipFill>
        <p:spPr>
          <a:xfrm>
            <a:off x="152400" y="558750"/>
            <a:ext cx="8733773" cy="4290125"/>
          </a:xfrm>
          <a:prstGeom prst="rect">
            <a:avLst/>
          </a:prstGeom>
          <a:noFill/>
          <a:ln>
            <a:noFill/>
          </a:ln>
        </p:spPr>
      </p:pic>
      <p:sp>
        <p:nvSpPr>
          <p:cNvPr id="243" name="Google Shape;243;p35"/>
          <p:cNvSpPr txBox="1"/>
          <p:nvPr/>
        </p:nvSpPr>
        <p:spPr>
          <a:xfrm>
            <a:off x="0" y="0"/>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500000"/>
                </a:solidFill>
                <a:latin typeface="Calibri"/>
                <a:ea typeface="Calibri"/>
                <a:cs typeface="Calibri"/>
                <a:sym typeface="Calibri"/>
              </a:rPr>
              <a:t>Future Directions </a:t>
            </a:r>
            <a:endParaRPr/>
          </a:p>
        </p:txBody>
      </p:sp>
      <p:sp>
        <p:nvSpPr>
          <p:cNvPr id="244" name="Google Shape;244;p35"/>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nvSpPr>
        <p:spPr>
          <a:xfrm>
            <a:off x="1388269" y="1907858"/>
            <a:ext cx="6322200" cy="25011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rgbClr val="500000"/>
                </a:solidFill>
                <a:latin typeface="Calibri"/>
                <a:ea typeface="Calibri"/>
                <a:cs typeface="Calibri"/>
                <a:sym typeface="Calibri"/>
              </a:rPr>
              <a:t>Q&amp;A</a:t>
            </a:r>
            <a:br>
              <a:rPr b="1" i="0" lang="en" sz="1400" u="none" cap="none" strike="noStrike">
                <a:solidFill>
                  <a:srgbClr val="500000"/>
                </a:solidFill>
                <a:latin typeface="Calibri"/>
                <a:ea typeface="Calibri"/>
                <a:cs typeface="Calibri"/>
                <a:sym typeface="Calibri"/>
              </a:rPr>
            </a:br>
            <a:br>
              <a:rPr b="1" i="0" lang="en" sz="1400" u="none" cap="none" strike="noStrike">
                <a:solidFill>
                  <a:srgbClr val="500000"/>
                </a:solidFill>
                <a:latin typeface="Calibri"/>
                <a:ea typeface="Calibri"/>
                <a:cs typeface="Calibri"/>
                <a:sym typeface="Calibri"/>
              </a:rPr>
            </a:br>
            <a:r>
              <a:rPr b="1" i="0" lang="en" sz="2400" u="none" cap="none" strike="noStrike">
                <a:solidFill>
                  <a:srgbClr val="500000"/>
                </a:solidFill>
                <a:latin typeface="Calibri"/>
                <a:ea typeface="Calibri"/>
                <a:cs typeface="Calibri"/>
                <a:sym typeface="Calibri"/>
              </a:rPr>
              <a:t>Welcome any comments/questions </a:t>
            </a:r>
            <a:br>
              <a:rPr b="1" i="0" lang="en" sz="2400" u="none" cap="none" strike="noStrike">
                <a:solidFill>
                  <a:srgbClr val="500000"/>
                </a:solidFill>
                <a:latin typeface="Calibri"/>
                <a:ea typeface="Calibri"/>
                <a:cs typeface="Calibri"/>
                <a:sym typeface="Calibri"/>
              </a:rPr>
            </a:br>
            <a:br>
              <a:rPr b="1" i="0" lang="en" sz="2400" u="none" cap="none" strike="noStrike">
                <a:solidFill>
                  <a:srgbClr val="500000"/>
                </a:solidFill>
                <a:latin typeface="Calibri"/>
                <a:ea typeface="Calibri"/>
                <a:cs typeface="Calibri"/>
                <a:sym typeface="Calibri"/>
              </a:rPr>
            </a:br>
            <a:r>
              <a:rPr b="1" i="0" lang="en" sz="2400" u="none" cap="none" strike="noStrike">
                <a:solidFill>
                  <a:srgbClr val="500000"/>
                </a:solidFill>
                <a:latin typeface="Calibri"/>
                <a:ea typeface="Calibri"/>
                <a:cs typeface="Calibri"/>
                <a:sym typeface="Calibri"/>
              </a:rPr>
              <a:t>yyang295</a:t>
            </a:r>
            <a:r>
              <a:rPr b="1" i="0" lang="en" sz="2400" cap="none" strike="noStrike">
                <a:solidFill>
                  <a:srgbClr val="500000"/>
                </a:solidFill>
                <a:latin typeface="Calibri"/>
                <a:ea typeface="Calibri"/>
                <a:cs typeface="Calibri"/>
                <a:sym typeface="Calibri"/>
              </a:rPr>
              <a:t>@tamu.edu</a:t>
            </a:r>
            <a:r>
              <a:rPr b="1" i="0" lang="en" sz="1400" cap="none" strike="noStrike">
                <a:solidFill>
                  <a:srgbClr val="500000"/>
                </a:solidFill>
                <a:latin typeface="Calibri"/>
                <a:ea typeface="Calibri"/>
                <a:cs typeface="Calibri"/>
                <a:sym typeface="Calibri"/>
              </a:rPr>
              <a:t> </a:t>
            </a:r>
            <a:endParaRPr b="1" i="0" sz="1400" cap="none" strike="noStrike">
              <a:solidFill>
                <a:srgbClr val="500000"/>
              </a:solidFill>
              <a:latin typeface="Calibri"/>
              <a:ea typeface="Calibri"/>
              <a:cs typeface="Calibri"/>
              <a:sym typeface="Calibri"/>
            </a:endParaRPr>
          </a:p>
        </p:txBody>
      </p:sp>
      <p:pic>
        <p:nvPicPr>
          <p:cNvPr id="250" name="Google Shape;250;p36"/>
          <p:cNvPicPr preferRelativeResize="0"/>
          <p:nvPr/>
        </p:nvPicPr>
        <p:blipFill>
          <a:blip r:embed="rId3">
            <a:alphaModFix/>
          </a:blip>
          <a:stretch>
            <a:fillRect/>
          </a:stretch>
        </p:blipFill>
        <p:spPr>
          <a:xfrm>
            <a:off x="6451750" y="3751197"/>
            <a:ext cx="2428251" cy="1015025"/>
          </a:xfrm>
          <a:prstGeom prst="rect">
            <a:avLst/>
          </a:prstGeom>
          <a:noFill/>
          <a:ln>
            <a:noFill/>
          </a:ln>
        </p:spPr>
      </p:pic>
      <p:pic>
        <p:nvPicPr>
          <p:cNvPr id="251" name="Google Shape;251;p36" title="RAPID_github_qr.png"/>
          <p:cNvPicPr preferRelativeResize="0"/>
          <p:nvPr/>
        </p:nvPicPr>
        <p:blipFill>
          <a:blip r:embed="rId4">
            <a:alphaModFix/>
          </a:blip>
          <a:stretch>
            <a:fillRect/>
          </a:stretch>
        </p:blipFill>
        <p:spPr>
          <a:xfrm>
            <a:off x="261600" y="3122725"/>
            <a:ext cx="1603056" cy="160305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